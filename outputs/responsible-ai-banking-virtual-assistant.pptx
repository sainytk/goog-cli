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8eee69aef40b9" /><Relationship Type="http://schemas.openxmlformats.org/officeDocument/2006/relationships/extended-properties" Target="/docProps/app.xml" Id="R0a694860d9954f9d" /><Relationship Type="http://schemas.openxmlformats.org/officeDocument/2006/relationships/officeDocument" Target="/ppt/presentation.xml" Id="Rce84714847414a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5570fb54b14e70"/>
  </p:sldMasterIdLst>
  <p:notesMasterIdLst>
    <p:notesMasterId xmlns:r="http://schemas.openxmlformats.org/officeDocument/2006/relationships" r:id="R55659948a3a94a69"/>
  </p:notesMasterIdLst>
  <p:sldIdLst>
    <p:sldId xmlns:r="http://schemas.openxmlformats.org/officeDocument/2006/relationships" id="256" r:id="R80134902c32e4b12"/>
    <p:sldId xmlns:r="http://schemas.openxmlformats.org/officeDocument/2006/relationships" id="257" r:id="Raeebd6dcc3764cc8"/>
    <p:sldId xmlns:r="http://schemas.openxmlformats.org/officeDocument/2006/relationships" id="258" r:id="Raa5a1230268c4903"/>
    <p:sldId xmlns:r="http://schemas.openxmlformats.org/officeDocument/2006/relationships" id="259" r:id="Rbae75a4849f445c1"/>
    <p:sldId xmlns:r="http://schemas.openxmlformats.org/officeDocument/2006/relationships" id="260" r:id="R16f1864808cb496f"/>
    <p:sldId xmlns:r="http://schemas.openxmlformats.org/officeDocument/2006/relationships" id="261" r:id="R9c9658bb06dd463f"/>
    <p:sldId xmlns:r="http://schemas.openxmlformats.org/officeDocument/2006/relationships" id="262" r:id="Rc9fc272bce434c4c"/>
    <p:sldId xmlns:r="http://schemas.openxmlformats.org/officeDocument/2006/relationships" id="263" r:id="R5a7d144cdd714a63"/>
    <p:sldId xmlns:r="http://schemas.openxmlformats.org/officeDocument/2006/relationships" id="264" r:id="R705aaa273e9542c6"/>
    <p:sldId xmlns:r="http://schemas.openxmlformats.org/officeDocument/2006/relationships" id="265" r:id="Rf54ae715eceb48cb"/>
    <p:sldId xmlns:r="http://schemas.openxmlformats.org/officeDocument/2006/relationships" id="266" r:id="R73d1080831584f9e"/>
    <p:sldId xmlns:r="http://schemas.openxmlformats.org/officeDocument/2006/relationships" id="267" r:id="R45067f22ae4e41c8"/>
    <p:sldId xmlns:r="http://schemas.openxmlformats.org/officeDocument/2006/relationships" id="268" r:id="R4ceb72674c5d4b1a"/>
    <p:sldId xmlns:r="http://schemas.openxmlformats.org/officeDocument/2006/relationships" id="269" r:id="R273f0fb1600c4f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289ad32a34f04" /><Relationship Type="http://schemas.openxmlformats.org/officeDocument/2006/relationships/slideMaster" Target="/ppt/slideMasters/slideMaster1.xml" Id="R795570fb54b14e70" /><Relationship Type="http://schemas.openxmlformats.org/officeDocument/2006/relationships/notesMaster" Target="/ppt/notesMasters/notesMaster1.xml" Id="R55659948a3a94a69" /><Relationship Type="http://schemas.openxmlformats.org/officeDocument/2006/relationships/presProps" Target="/ppt/presProps.xml" Id="Re3993c58091d4d6d" /><Relationship Type="http://schemas.openxmlformats.org/officeDocument/2006/relationships/tableStyles" Target="/ppt/tableStyles.xml" Id="R9ae864c2c0884514" /><Relationship Type="http://schemas.openxmlformats.org/officeDocument/2006/relationships/slide" Target="/ppt/slides/slide1.xml" Id="R80134902c32e4b12" /><Relationship Type="http://schemas.openxmlformats.org/officeDocument/2006/relationships/slide" Target="/ppt/slides/slide2.xml" Id="Raeebd6dcc3764cc8" /><Relationship Type="http://schemas.openxmlformats.org/officeDocument/2006/relationships/slide" Target="/ppt/slides/slide3.xml" Id="Raa5a1230268c4903" /><Relationship Type="http://schemas.openxmlformats.org/officeDocument/2006/relationships/slide" Target="/ppt/slides/slide4.xml" Id="Rbae75a4849f445c1" /><Relationship Type="http://schemas.openxmlformats.org/officeDocument/2006/relationships/slide" Target="/ppt/slides/slide5.xml" Id="R16f1864808cb496f" /><Relationship Type="http://schemas.openxmlformats.org/officeDocument/2006/relationships/slide" Target="/ppt/slides/slide6.xml" Id="R9c9658bb06dd463f" /><Relationship Type="http://schemas.openxmlformats.org/officeDocument/2006/relationships/slide" Target="/ppt/slides/slide7.xml" Id="Rc9fc272bce434c4c" /><Relationship Type="http://schemas.openxmlformats.org/officeDocument/2006/relationships/slide" Target="/ppt/slides/slide8.xml" Id="R5a7d144cdd714a63" /><Relationship Type="http://schemas.openxmlformats.org/officeDocument/2006/relationships/slide" Target="/ppt/slides/slide9.xml" Id="R705aaa273e9542c6" /><Relationship Type="http://schemas.openxmlformats.org/officeDocument/2006/relationships/slide" Target="/ppt/slides/slide10.xml" Id="Rf54ae715eceb48cb" /><Relationship Type="http://schemas.openxmlformats.org/officeDocument/2006/relationships/slide" Target="/ppt/slides/slide11.xml" Id="R73d1080831584f9e" /><Relationship Type="http://schemas.openxmlformats.org/officeDocument/2006/relationships/slide" Target="/ppt/slides/slide12.xml" Id="R45067f22ae4e41c8" /><Relationship Type="http://schemas.openxmlformats.org/officeDocument/2006/relationships/slide" Target="/ppt/slides/slide13.xml" Id="R4ceb72674c5d4b1a" /><Relationship Type="http://schemas.openxmlformats.org/officeDocument/2006/relationships/slide" Target="/ppt/slides/slide14.xml" Id="R273f0fb1600c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dcc2033dc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90540b4af4dd9" /><Relationship Type="http://schemas.openxmlformats.org/officeDocument/2006/relationships/notesMaster" Target="/ppt/notesMasters/notesMaster1.xml" Id="R6084c971b25e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b04dda29b24664" /><Relationship Type="http://schemas.openxmlformats.org/officeDocument/2006/relationships/notesMaster" Target="/ppt/notesMasters/notesMaster1.xml" Id="Rc5c0e98002e347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a49659adf4d80" /><Relationship Type="http://schemas.openxmlformats.org/officeDocument/2006/relationships/notesMaster" Target="/ppt/notesMasters/notesMaster1.xml" Id="Re6c4e092f60b49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e4a3de36244e3f" /><Relationship Type="http://schemas.openxmlformats.org/officeDocument/2006/relationships/notesMaster" Target="/ppt/notesMasters/notesMaster1.xml" Id="R7b727016b286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084a0df9134625" /><Relationship Type="http://schemas.openxmlformats.org/officeDocument/2006/relationships/notesMaster" Target="/ppt/notesMasters/notesMaster1.xml" Id="Rd5cbef2874b8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49e727aae427d" /><Relationship Type="http://schemas.openxmlformats.org/officeDocument/2006/relationships/notesMaster" Target="/ppt/notesMasters/notesMaster1.xml" Id="Ra7ba8d65070b49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960ff69dc14e99" /><Relationship Type="http://schemas.openxmlformats.org/officeDocument/2006/relationships/notesMaster" Target="/ppt/notesMasters/notesMaster1.xml" Id="Rbb78a401ffa9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3b2b880c9a4497" /><Relationship Type="http://schemas.openxmlformats.org/officeDocument/2006/relationships/notesMaster" Target="/ppt/notesMasters/notesMaster1.xml" Id="R27680cf4d56b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baf46dcd44be0" /><Relationship Type="http://schemas.openxmlformats.org/officeDocument/2006/relationships/notesMaster" Target="/ppt/notesMasters/notesMaster1.xml" Id="Rc049e9a65d374a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a4c1010c7146dc" /><Relationship Type="http://schemas.openxmlformats.org/officeDocument/2006/relationships/notesMaster" Target="/ppt/notesMasters/notesMaster1.xml" Id="R792c7754e28642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af79c4470147f3" /><Relationship Type="http://schemas.openxmlformats.org/officeDocument/2006/relationships/notesMaster" Target="/ppt/notesMasters/notesMaster1.xml" Id="Ra26c3c60dd9e41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d6329c69d34961" /><Relationship Type="http://schemas.openxmlformats.org/officeDocument/2006/relationships/notesMaster" Target="/ppt/notesMasters/notesMaster1.xml" Id="Ra74f39717cfc41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e2f5fbab684dc4" /><Relationship Type="http://schemas.openxmlformats.org/officeDocument/2006/relationships/notesMaster" Target="/ppt/notesMasters/notesMaster1.xml" Id="R83faaba6cac642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3061ea94204bb0" /><Relationship Type="http://schemas.openxmlformats.org/officeDocument/2006/relationships/notesMaster" Target="/ppt/notesMasters/notesMaster1.xml" Id="R2e37cb3a5f69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15e7837c447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4dfb5b403e42dd" /><Relationship Type="http://schemas.openxmlformats.org/officeDocument/2006/relationships/slideLayout" Target="/ppt/slideLayouts/slideLayout1.xml" Id="R16a9f2eb6d55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9f2eb6d55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de6251fed47d5" /><Relationship Type="http://schemas.openxmlformats.org/officeDocument/2006/relationships/notesSlide" Target="/ppt/notesSlides/notesSlide1.xml" Id="Rf9bb5bfa8a42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76a5018634411" /><Relationship Type="http://schemas.openxmlformats.org/officeDocument/2006/relationships/notesSlide" Target="/ppt/notesSlides/notesSlide2.xml" Id="R9ba05ad21ae542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caf31f2cb4680" /><Relationship Type="http://schemas.openxmlformats.org/officeDocument/2006/relationships/notesSlide" Target="/ppt/notesSlides/notesSlide3.xml" Id="R7984a1b667c1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1dda25d454631" /><Relationship Type="http://schemas.openxmlformats.org/officeDocument/2006/relationships/notesSlide" Target="/ppt/notesSlides/notesSlide4.xml" Id="Re09746d0e27e47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c953ea9d4b4c" /><Relationship Type="http://schemas.openxmlformats.org/officeDocument/2006/relationships/notesSlide" Target="/ppt/notesSlides/notesSlide5.xml" Id="Rb9904effe7b4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5a935857a453d" /><Relationship Type="http://schemas.openxmlformats.org/officeDocument/2006/relationships/notesSlide" Target="/ppt/notesSlides/notesSlide6.xml" Id="R813e2511a2b34d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ba41a29c948b9" /><Relationship Type="http://schemas.openxmlformats.org/officeDocument/2006/relationships/notesSlide" Target="/ppt/notesSlides/notesSlide7.xml" Id="R9a5b84f6a3e34f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24330ad0243dc" /><Relationship Type="http://schemas.openxmlformats.org/officeDocument/2006/relationships/notesSlide" Target="/ppt/notesSlides/notesSlide8.xml" Id="Recc1047790a94d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e3ca4d4b42f5" /><Relationship Type="http://schemas.openxmlformats.org/officeDocument/2006/relationships/notesSlide" Target="/ppt/notesSlides/notesSlide9.xml" Id="Rfbdb42b40cee40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d79fdfbd2463c" /><Relationship Type="http://schemas.openxmlformats.org/officeDocument/2006/relationships/notesSlide" Target="/ppt/notesSlides/notesSlide10.xml" Id="R9f7c8b1203cc47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7b2de66484dd6" /><Relationship Type="http://schemas.openxmlformats.org/officeDocument/2006/relationships/notesSlide" Target="/ppt/notesSlides/notesSlide11.xml" Id="R5a4c8edad8d140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c0244eeb44552" /><Relationship Type="http://schemas.openxmlformats.org/officeDocument/2006/relationships/notesSlide" Target="/ppt/notesSlides/notesSlide12.xml" Id="R679e74cd942d45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74a593a3a4fa3" /><Relationship Type="http://schemas.openxmlformats.org/officeDocument/2006/relationships/notesSlide" Target="/ppt/notesSlides/notesSlide13.xml" Id="Rd22edd2d18e141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bce560e844f7a" /><Relationship Type="http://schemas.openxmlformats.org/officeDocument/2006/relationships/notesSlide" Target="/ppt/notesSlides/notesSlide14.xml" Id="R0642687f01024f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_accent">
            <a:extLst xmlns:a="http://schemas.openxmlformats.org/drawingml/2006/main">
              <a:ext uri="{FF2B5EF4-FFF2-40B4-BE49-F238E27FC236}">
                <a16:creationId xmlns:a16="http://schemas.microsoft.com/office/drawing/2014/main" id="{F87224DC-8FFF-4635-A40A-C05BEDF8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cover_eyebrow">
            <a:extLst xmlns:a="http://schemas.openxmlformats.org/drawingml/2006/main">
              <a:ext uri="{FF2B5EF4-FFF2-40B4-BE49-F238E27FC236}">
                <a16:creationId xmlns:a16="http://schemas.microsoft.com/office/drawing/2014/main" id="{A11A85F3-4520-4858-A32D-3F518B2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BANKING VIRTUAL ASSISTANT</a:t>
            </a:r>
          </a:p>
        </p:txBody>
      </p:sp>
      <p:sp>
        <p:nvSpPr>
          <p:cNvPr id="3" name="cover_title">
            <a:extLst xmlns:a="http://schemas.openxmlformats.org/drawingml/2006/main">
              <a:ext uri="{FF2B5EF4-FFF2-40B4-BE49-F238E27FC236}">
                <a16:creationId xmlns:a16="http://schemas.microsoft.com/office/drawing/2014/main" id="{9BE9B7E3-46B4-47C4-A1B1-8B08791E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9810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111111"/>
                </a:solidFill>
              </a:defRPr>
            </a:pPr>
            <a:r>
              <a:rPr sz="5250" b="0">
                <a:solidFill>
                  <a:srgbClr val="111111"/>
                </a:solidFill>
              </a:rPr>
              <a:t>Responsible AI measurement for banking virtual assistants</a:t>
            </a:r>
          </a:p>
        </p:txBody>
      </p:sp>
      <p:sp>
        <p:nvSpPr>
          <p:cNvPr id="4" name="cover_subtitle">
            <a:extLst xmlns:a="http://schemas.openxmlformats.org/drawingml/2006/main">
              <a:ext uri="{FF2B5EF4-FFF2-40B4-BE49-F238E27FC236}">
                <a16:creationId xmlns:a16="http://schemas.microsoft.com/office/drawing/2014/main" id="{AC987292-47FF-46F9-B5A7-B10CA894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A practical framework for testing, release approval, and live monitoring</a:t>
            </a:r>
          </a:p>
        </p:txBody>
      </p:sp>
      <p:sp>
        <p:nvSpPr>
          <p:cNvPr id="5" name="cover_rule">
            <a:extLst xmlns:a="http://schemas.openxmlformats.org/drawingml/2006/main">
              <a:ext uri="{FF2B5EF4-FFF2-40B4-BE49-F238E27FC236}">
                <a16:creationId xmlns:a16="http://schemas.microsoft.com/office/drawing/2014/main" id="{4715C41E-B1B1-4661-921E-C7095F6C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cover_scope">
            <a:extLst xmlns:a="http://schemas.openxmlformats.org/drawingml/2006/main">
              <a:ext uri="{FF2B5EF4-FFF2-40B4-BE49-F238E27FC236}">
                <a16:creationId xmlns:a16="http://schemas.microsoft.com/office/drawing/2014/main" id="{36CA8613-FF8F-413C-A924-6B27BD5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Risk-tiered evidence | Independent challenge | Customer outcome monitoring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1D0CCC4-ED8C-423C-8D6B-B120DC75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5802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374D380-157E-4134-A135-266A0E5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WHY MEASUREMENT CHANGES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8B9D5A-8CF6-4C30-AD7B-ED9F26A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Generic model scores miss banking harm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7BF4B86-2A08-44FD-AD83-078D1C6A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 banking assistant can sound correct while producing the wrong customer outcome.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08D8226-1F0E-4FBD-BCE4-5B73A649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D6239AAB-A1C7-40BA-9DAD-C0CFC1F2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11111"/>
                </a:solidFill>
              </a:defRPr>
            </a:pPr>
            <a:r>
              <a:rPr sz="3300" b="0">
                <a:solidFill>
                  <a:srgbClr val="111111"/>
                </a:solidFill>
              </a:rPr>
              <a:t>A correct sentence can still create an unsafe banking outcome.</a:t>
            </a:r>
          </a:p>
        </p:txBody>
      </p:sp>
      <p:sp>
        <p:nvSpPr>
          <p:cNvPr id="6" name="claim_accent">
            <a:extLst xmlns:a="http://schemas.openxmlformats.org/drawingml/2006/main">
              <a:ext uri="{FF2B5EF4-FFF2-40B4-BE49-F238E27FC236}">
                <a16:creationId xmlns:a16="http://schemas.microsoft.com/office/drawing/2014/main" id="{7C482D8C-C3AE-433B-B823-D0E847B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risk_label_1">
            <a:extLst xmlns:a="http://schemas.openxmlformats.org/drawingml/2006/main">
              <a:ext uri="{FF2B5EF4-FFF2-40B4-BE49-F238E27FC236}">
                <a16:creationId xmlns:a16="http://schemas.microsoft.com/office/drawing/2014/main" id="{3C77EDAD-8307-490C-AA7A-C97953AA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Wrong information</a:t>
            </a:r>
          </a:p>
        </p:txBody>
      </p:sp>
      <p:sp>
        <p:nvSpPr>
          <p:cNvPr id="8" name="risk_body_1">
            <a:extLst xmlns:a="http://schemas.openxmlformats.org/drawingml/2006/main">
              <a:ext uri="{FF2B5EF4-FFF2-40B4-BE49-F238E27FC236}">
                <a16:creationId xmlns:a16="http://schemas.microsoft.com/office/drawing/2014/main" id="{5F4740C2-37EB-4582-89A5-C1718EB6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Fees, limits, rates, or product terms conflict with the approved source.</a:t>
            </a:r>
          </a:p>
        </p:txBody>
      </p:sp>
      <p:sp>
        <p:nvSpPr>
          <p:cNvPr id="9" name="risk_rule_1">
            <a:extLst xmlns:a="http://schemas.openxmlformats.org/drawingml/2006/main">
              <a:ext uri="{FF2B5EF4-FFF2-40B4-BE49-F238E27FC236}">
                <a16:creationId xmlns:a16="http://schemas.microsoft.com/office/drawing/2014/main" id="{322D110C-3D5A-4D19-81B7-1C75CE5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risk_label_2">
            <a:extLst xmlns:a="http://schemas.openxmlformats.org/drawingml/2006/main">
              <a:ext uri="{FF2B5EF4-FFF2-40B4-BE49-F238E27FC236}">
                <a16:creationId xmlns:a16="http://schemas.microsoft.com/office/drawing/2014/main" id="{4CF92E29-8A78-4F7D-B8D6-19ECA607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527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Improper guidance</a:t>
            </a:r>
          </a:p>
        </p:txBody>
      </p:sp>
      <p:sp>
        <p:nvSpPr>
          <p:cNvPr id="11" name="risk_body_2">
            <a:extLst xmlns:a="http://schemas.openxmlformats.org/drawingml/2006/main">
              <a:ext uri="{FF2B5EF4-FFF2-40B4-BE49-F238E27FC236}">
                <a16:creationId xmlns:a16="http://schemas.microsoft.com/office/drawing/2014/main" id="{3C052BEC-CC6A-49D7-BE27-5D3C97BA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527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assistant steers a customer toward unsuitable credit or suppresses a complaint.</a:t>
            </a:r>
          </a:p>
        </p:txBody>
      </p:sp>
      <p:sp>
        <p:nvSpPr>
          <p:cNvPr id="12" name="risk_rule_2">
            <a:extLst xmlns:a="http://schemas.openxmlformats.org/drawingml/2006/main">
              <a:ext uri="{FF2B5EF4-FFF2-40B4-BE49-F238E27FC236}">
                <a16:creationId xmlns:a16="http://schemas.microsoft.com/office/drawing/2014/main" id="{DB82D01C-8FC7-4C66-9B39-7DB34111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33775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risk_label_3">
            <a:extLst xmlns:a="http://schemas.openxmlformats.org/drawingml/2006/main">
              <a:ext uri="{FF2B5EF4-FFF2-40B4-BE49-F238E27FC236}">
                <a16:creationId xmlns:a16="http://schemas.microsoft.com/office/drawing/2014/main" id="{973B0544-D5C3-4E82-AA65-9031C84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Unauthorized action</a:t>
            </a:r>
          </a:p>
        </p:txBody>
      </p:sp>
      <p:sp>
        <p:nvSpPr>
          <p:cNvPr id="14" name="risk_body_3">
            <a:extLst xmlns:a="http://schemas.openxmlformats.org/drawingml/2006/main">
              <a:ext uri="{FF2B5EF4-FFF2-40B4-BE49-F238E27FC236}">
                <a16:creationId xmlns:a16="http://schemas.microsoft.com/office/drawing/2014/main" id="{1C386371-0E9F-453A-9FA8-EEFB6961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 tool changes money, access, or obligations without valid confirmation.</a:t>
            </a:r>
          </a:p>
        </p:txBody>
      </p:sp>
      <p:sp>
        <p:nvSpPr>
          <p:cNvPr id="15" name="risk_rule_3">
            <a:extLst xmlns:a="http://schemas.openxmlformats.org/drawingml/2006/main">
              <a:ext uri="{FF2B5EF4-FFF2-40B4-BE49-F238E27FC236}">
                <a16:creationId xmlns:a16="http://schemas.microsoft.com/office/drawing/2014/main" id="{6ECBAF17-3A6C-4CC6-8B6C-6168C438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risk_label_4">
            <a:extLst xmlns:a="http://schemas.openxmlformats.org/drawingml/2006/main">
              <a:ext uri="{FF2B5EF4-FFF2-40B4-BE49-F238E27FC236}">
                <a16:creationId xmlns:a16="http://schemas.microsoft.com/office/drawing/2014/main" id="{AED3B8B6-A2BC-4C69-B572-6A5A0335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Failed recovery</a:t>
            </a:r>
          </a:p>
        </p:txBody>
      </p:sp>
      <p:sp>
        <p:nvSpPr>
          <p:cNvPr id="17" name="risk_body_4">
            <a:extLst xmlns:a="http://schemas.openxmlformats.org/drawingml/2006/main">
              <a:ext uri="{FF2B5EF4-FFF2-40B4-BE49-F238E27FC236}">
                <a16:creationId xmlns:a16="http://schemas.microsoft.com/office/drawing/2014/main" id="{07F0959A-0C27-4738-9A07-F9B53B6E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7677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assistant cannot hand off, reverse, or contain a harmful interaction.</a:t>
            </a:r>
          </a:p>
        </p:txBody>
      </p:sp>
      <p:sp>
        <p:nvSpPr>
          <p:cNvPr id="18" name="outcome_banner">
            <a:extLst xmlns:a="http://schemas.openxmlformats.org/drawingml/2006/main">
              <a:ext uri="{FF2B5EF4-FFF2-40B4-BE49-F238E27FC236}">
                <a16:creationId xmlns:a16="http://schemas.microsoft.com/office/drawing/2014/main" id="{B504E60E-723E-4862-931A-38BCC9C2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outcome_banner_text">
            <a:extLst xmlns:a="http://schemas.openxmlformats.org/drawingml/2006/main">
              <a:ext uri="{FF2B5EF4-FFF2-40B4-BE49-F238E27FC236}">
                <a16:creationId xmlns:a16="http://schemas.microsoft.com/office/drawing/2014/main" id="{62A546DD-4F21-43DC-8186-305F357B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Measure the conversation, the action, and the customer outcome.</a:t>
            </a:r>
          </a:p>
        </p:txBody>
      </p:sp>
    </p:spTree>
    <p:extLst>
      <p:ext uri="{BB962C8B-B14F-4D97-AF65-F5344CB8AC3E}">
        <p14:creationId xmlns:p14="http://schemas.microsoft.com/office/powerpoint/2010/main" val="1940458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98F1B1A-F870-491B-859D-145D501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RISK PROPORTIONALITY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CF78C3-4F80-4C50-A0D3-8495A8B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Risk tiering determines the evidence burden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23D5389-A9DF-4ED1-8C2F-3EF7D351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Classify the most consequential capability in the journey, not the average conversation.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8FB0EDB-4859-4DBA-B5EE-DA02CFDF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tier_bg_1">
            <a:extLst xmlns:a="http://schemas.openxmlformats.org/drawingml/2006/main">
              <a:ext uri="{FF2B5EF4-FFF2-40B4-BE49-F238E27FC236}">
                <a16:creationId xmlns:a16="http://schemas.microsoft.com/office/drawing/2014/main" id="{BC74516A-9435-45EF-A1D5-0AC529E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6" name="tier_title_1">
            <a:extLst xmlns:a="http://schemas.openxmlformats.org/drawingml/2006/main">
              <a:ext uri="{FF2B5EF4-FFF2-40B4-BE49-F238E27FC236}">
                <a16:creationId xmlns:a16="http://schemas.microsoft.com/office/drawing/2014/main" id="{A0AB6EF0-E1A3-41AE-958C-A4EBCAB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Tier 1 | Information</a:t>
            </a:r>
          </a:p>
        </p:txBody>
      </p:sp>
      <p:sp>
        <p:nvSpPr>
          <p:cNvPr id="7" name="tier_examples_1">
            <a:extLst xmlns:a="http://schemas.openxmlformats.org/drawingml/2006/main">
              <a:ext uri="{FF2B5EF4-FFF2-40B4-BE49-F238E27FC236}">
                <a16:creationId xmlns:a16="http://schemas.microsoft.com/office/drawing/2014/main" id="{F3F9AF7D-B1C8-40CA-9F49-C4924429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Branch hours, navigation, approved product facts</a:t>
            </a:r>
          </a:p>
        </p:txBody>
      </p:sp>
      <p:sp>
        <p:nvSpPr>
          <p:cNvPr id="8" name="tier_control_label_1">
            <a:extLst xmlns:a="http://schemas.openxmlformats.org/drawingml/2006/main">
              <a:ext uri="{FF2B5EF4-FFF2-40B4-BE49-F238E27FC236}">
                <a16:creationId xmlns:a16="http://schemas.microsoft.com/office/drawing/2014/main" id="{32E5D690-C41A-483E-B038-F7B3CD5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954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PRIMARY CONTROL</a:t>
            </a:r>
          </a:p>
        </p:txBody>
      </p:sp>
      <p:sp>
        <p:nvSpPr>
          <p:cNvPr id="9" name="tier_control_1">
            <a:extLst xmlns:a="http://schemas.openxmlformats.org/drawingml/2006/main">
              <a:ext uri="{FF2B5EF4-FFF2-40B4-BE49-F238E27FC236}">
                <a16:creationId xmlns:a16="http://schemas.microsoft.com/office/drawing/2014/main" id="{C067BE87-7817-4964-9017-5290D64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62175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Approved knowledge, citation checks, safe uncertainty</a:t>
            </a:r>
          </a:p>
        </p:txBody>
      </p:sp>
      <p:sp>
        <p:nvSpPr>
          <p:cNvPr id="10" name="tier_evidence_label_1">
            <a:extLst xmlns:a="http://schemas.openxmlformats.org/drawingml/2006/main">
              <a:ext uri="{FF2B5EF4-FFF2-40B4-BE49-F238E27FC236}">
                <a16:creationId xmlns:a16="http://schemas.microsoft.com/office/drawing/2014/main" id="{FBBDF7D5-07AD-4DA6-9B28-B9340F33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RELEASE EVIDENCE</a:t>
            </a:r>
          </a:p>
        </p:txBody>
      </p:sp>
      <p:sp>
        <p:nvSpPr>
          <p:cNvPr id="11" name="tier_evidence_1">
            <a:extLst xmlns:a="http://schemas.openxmlformats.org/drawingml/2006/main">
              <a:ext uri="{FF2B5EF4-FFF2-40B4-BE49-F238E27FC236}">
                <a16:creationId xmlns:a16="http://schemas.microsoft.com/office/drawing/2014/main" id="{6934AAC9-5461-485D-AE5C-3C574340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Golden-set accuracy and unsupported-claim testing</a:t>
            </a:r>
          </a:p>
        </p:txBody>
      </p:sp>
      <p:sp>
        <p:nvSpPr>
          <p:cNvPr id="12" name="tier_bg_2">
            <a:extLst xmlns:a="http://schemas.openxmlformats.org/drawingml/2006/main">
              <a:ext uri="{FF2B5EF4-FFF2-40B4-BE49-F238E27FC236}">
                <a16:creationId xmlns:a16="http://schemas.microsoft.com/office/drawing/2014/main" id="{64CE75B0-B63B-46C4-8A94-BF30962B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tier_title_2">
            <a:extLst xmlns:a="http://schemas.openxmlformats.org/drawingml/2006/main">
              <a:ext uri="{FF2B5EF4-FFF2-40B4-BE49-F238E27FC236}">
                <a16:creationId xmlns:a16="http://schemas.microsoft.com/office/drawing/2014/main" id="{89BBFE4A-4591-4B46-A11A-CF70656B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Tier 2 | Guidance</a:t>
            </a:r>
          </a:p>
        </p:txBody>
      </p:sp>
      <p:sp>
        <p:nvSpPr>
          <p:cNvPr id="14" name="tier_examples_2">
            <a:extLst xmlns:a="http://schemas.openxmlformats.org/drawingml/2006/main">
              <a:ext uri="{FF2B5EF4-FFF2-40B4-BE49-F238E27FC236}">
                <a16:creationId xmlns:a16="http://schemas.microsoft.com/office/drawing/2014/main" id="{51DA2350-C8EF-4301-8B92-2072E666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Product comparison, eligibility, complaints, financial education</a:t>
            </a:r>
          </a:p>
        </p:txBody>
      </p:sp>
      <p:sp>
        <p:nvSpPr>
          <p:cNvPr id="15" name="tier_control_label_2">
            <a:extLst xmlns:a="http://schemas.openxmlformats.org/drawingml/2006/main">
              <a:ext uri="{FF2B5EF4-FFF2-40B4-BE49-F238E27FC236}">
                <a16:creationId xmlns:a16="http://schemas.microsoft.com/office/drawing/2014/main" id="{C4C411E6-FF17-4BDF-BAF3-379CAA1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527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PRIMARY CONTROL</a:t>
            </a:r>
          </a:p>
        </p:txBody>
      </p:sp>
      <p:sp>
        <p:nvSpPr>
          <p:cNvPr id="16" name="tier_control_2">
            <a:extLst xmlns:a="http://schemas.openxmlformats.org/drawingml/2006/main">
              <a:ext uri="{FF2B5EF4-FFF2-40B4-BE49-F238E27FC236}">
                <a16:creationId xmlns:a16="http://schemas.microsoft.com/office/drawing/2014/main" id="{37853903-09AA-42D1-A4AA-087ABFC4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19475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Suitability boundaries, reason checks, human escalation</a:t>
            </a:r>
          </a:p>
        </p:txBody>
      </p:sp>
      <p:sp>
        <p:nvSpPr>
          <p:cNvPr id="17" name="tier_evidence_label_2">
            <a:extLst xmlns:a="http://schemas.openxmlformats.org/drawingml/2006/main">
              <a:ext uri="{FF2B5EF4-FFF2-40B4-BE49-F238E27FC236}">
                <a16:creationId xmlns:a16="http://schemas.microsoft.com/office/drawing/2014/main" id="{31DA2A5E-5F60-427B-B0AD-6FD6752E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527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RELEASE EVIDENCE</a:t>
            </a:r>
          </a:p>
        </p:txBody>
      </p:sp>
      <p:sp>
        <p:nvSpPr>
          <p:cNvPr id="18" name="tier_evidence_2">
            <a:extLst xmlns:a="http://schemas.openxmlformats.org/drawingml/2006/main">
              <a:ext uri="{FF2B5EF4-FFF2-40B4-BE49-F238E27FC236}">
                <a16:creationId xmlns:a16="http://schemas.microsoft.com/office/drawing/2014/main" id="{F6E1F718-D3E5-42B9-AEE9-FA4217F4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194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Scenario review, fairness cohorts, conduct testing</a:t>
            </a:r>
          </a:p>
        </p:txBody>
      </p:sp>
      <p:sp>
        <p:nvSpPr>
          <p:cNvPr id="19" name="tier_bg_3">
            <a:extLst xmlns:a="http://schemas.openxmlformats.org/drawingml/2006/main">
              <a:ext uri="{FF2B5EF4-FFF2-40B4-BE49-F238E27FC236}">
                <a16:creationId xmlns:a16="http://schemas.microsoft.com/office/drawing/2014/main" id="{DED9E43B-F4D7-4E7F-A4AC-38B700E2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tier_title_3">
            <a:extLst xmlns:a="http://schemas.openxmlformats.org/drawingml/2006/main">
              <a:ext uri="{FF2B5EF4-FFF2-40B4-BE49-F238E27FC236}">
                <a16:creationId xmlns:a16="http://schemas.microsoft.com/office/drawing/2014/main" id="{D99451B7-E1F3-4841-8508-10CBB6F2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Tier 3 | Action</a:t>
            </a:r>
          </a:p>
        </p:txBody>
      </p:sp>
      <p:sp>
        <p:nvSpPr>
          <p:cNvPr id="21" name="tier_examples_3">
            <a:extLst xmlns:a="http://schemas.openxmlformats.org/drawingml/2006/main">
              <a:ext uri="{FF2B5EF4-FFF2-40B4-BE49-F238E27FC236}">
                <a16:creationId xmlns:a16="http://schemas.microsoft.com/office/drawing/2014/main" id="{6B5E58D4-6C87-4578-9C0F-7148F03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Payments, account changes, and credit outcomes</a:t>
            </a:r>
          </a:p>
        </p:txBody>
      </p:sp>
      <p:sp>
        <p:nvSpPr>
          <p:cNvPr id="22" name="tier_control_label_3">
            <a:extLst xmlns:a="http://schemas.openxmlformats.org/drawingml/2006/main">
              <a:ext uri="{FF2B5EF4-FFF2-40B4-BE49-F238E27FC236}">
                <a16:creationId xmlns:a16="http://schemas.microsoft.com/office/drawing/2014/main" id="{F499AE0C-13D8-49AA-9FD5-412FBB8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10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PRIMARY CONTROL</a:t>
            </a:r>
          </a:p>
        </p:txBody>
      </p:sp>
      <p:sp>
        <p:nvSpPr>
          <p:cNvPr id="23" name="tier_control_3">
            <a:extLst xmlns:a="http://schemas.openxmlformats.org/drawingml/2006/main">
              <a:ext uri="{FF2B5EF4-FFF2-40B4-BE49-F238E27FC236}">
                <a16:creationId xmlns:a16="http://schemas.microsoft.com/office/drawing/2014/main" id="{AA53626F-DFAC-490E-A83C-3B430254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76775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Least privilege, explicit confirmation, reversible execution</a:t>
            </a:r>
          </a:p>
        </p:txBody>
      </p:sp>
      <p:sp>
        <p:nvSpPr>
          <p:cNvPr id="24" name="tier_evidence_label_3">
            <a:extLst xmlns:a="http://schemas.openxmlformats.org/drawingml/2006/main">
              <a:ext uri="{FF2B5EF4-FFF2-40B4-BE49-F238E27FC236}">
                <a16:creationId xmlns:a16="http://schemas.microsoft.com/office/drawing/2014/main" id="{9A640436-82F7-40D9-9031-5E2DE35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0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RELEASE EVIDENCE</a:t>
            </a:r>
          </a:p>
        </p:txBody>
      </p:sp>
      <p:sp>
        <p:nvSpPr>
          <p:cNvPr id="25" name="tier_evidence_3">
            <a:extLst xmlns:a="http://schemas.openxmlformats.org/drawingml/2006/main">
              <a:ext uri="{FF2B5EF4-FFF2-40B4-BE49-F238E27FC236}">
                <a16:creationId xmlns:a16="http://schemas.microsoft.com/office/drawing/2014/main" id="{1D214FAD-39F6-489D-BEB5-59EA0A74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Adversarial tests, zero unresolved critical failures, rollback proof</a:t>
            </a:r>
          </a:p>
        </p:txBody>
      </p:sp>
      <p:sp>
        <p:nvSpPr>
          <p:cNvPr id="26" name="tier_takeaway">
            <a:extLst xmlns:a="http://schemas.openxmlformats.org/drawingml/2006/main">
              <a:ext uri="{FF2B5EF4-FFF2-40B4-BE49-F238E27FC236}">
                <a16:creationId xmlns:a16="http://schemas.microsoft.com/office/drawing/2014/main" id="{F7B1FE7E-02F6-476B-BEB1-075A5F45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More autonomy requires stronger evidence, tighter permissions, and faster recovery.</a:t>
            </a:r>
          </a:p>
        </p:txBody>
      </p:sp>
    </p:spTree>
    <p:extLst>
      <p:ext uri="{BB962C8B-B14F-4D97-AF65-F5344CB8AC3E}">
        <p14:creationId xmlns:p14="http://schemas.microsoft.com/office/powerpoint/2010/main" val="798971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04E4C2B-1DA9-48AB-9976-8555781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MEASUREMENT FRAMEWORK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71BC72-6153-4FD9-BBDB-739792F5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Seven dimensions define the evidence set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A42BFA6-656F-4670-914B-FCA5039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Every dimension needs a test method, metric family, cadence, and accountable owner.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556B1A3-8372-4972-A8B9-F49F2FE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matrix_header">
            <a:extLst xmlns:a="http://schemas.openxmlformats.org/drawingml/2006/main">
              <a:ext uri="{FF2B5EF4-FFF2-40B4-BE49-F238E27FC236}">
                <a16:creationId xmlns:a16="http://schemas.microsoft.com/office/drawing/2014/main" id="{F7D58C28-9306-4433-8815-E46FFC64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matrix_header_1">
            <a:extLst xmlns:a="http://schemas.openxmlformats.org/drawingml/2006/main">
              <a:ext uri="{FF2B5EF4-FFF2-40B4-BE49-F238E27FC236}">
                <a16:creationId xmlns:a16="http://schemas.microsoft.com/office/drawing/2014/main" id="{AF8E7E0E-6034-49D6-8D61-C642859F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measure</a:t>
            </a:r>
          </a:p>
        </p:txBody>
      </p:sp>
      <p:sp>
        <p:nvSpPr>
          <p:cNvPr id="7" name="matrix_header_2">
            <a:extLst xmlns:a="http://schemas.openxmlformats.org/drawingml/2006/main">
              <a:ext uri="{FF2B5EF4-FFF2-40B4-BE49-F238E27FC236}">
                <a16:creationId xmlns:a16="http://schemas.microsoft.com/office/drawing/2014/main" id="{9B453CF8-128F-40E0-A56D-94D372E0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14500"/>
            <a:ext cx="524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How to test it</a:t>
            </a:r>
          </a:p>
        </p:txBody>
      </p:sp>
      <p:sp>
        <p:nvSpPr>
          <p:cNvPr id="8" name="matrix_header_3">
            <a:extLst xmlns:a="http://schemas.openxmlformats.org/drawingml/2006/main">
              <a:ext uri="{FF2B5EF4-FFF2-40B4-BE49-F238E27FC236}">
                <a16:creationId xmlns:a16="http://schemas.microsoft.com/office/drawing/2014/main" id="{E7EF5F8A-B494-49D5-91AB-78935E2D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Evidence and cadence</a:t>
            </a:r>
          </a:p>
        </p:txBody>
      </p:sp>
      <p:sp>
        <p:nvSpPr>
          <p:cNvPr id="9" name="matrix_row_bg_1">
            <a:extLst xmlns:a="http://schemas.openxmlformats.org/drawingml/2006/main">
              <a:ext uri="{FF2B5EF4-FFF2-40B4-BE49-F238E27FC236}">
                <a16:creationId xmlns:a16="http://schemas.microsoft.com/office/drawing/2014/main" id="{B3206BCB-72B8-4BA2-B576-35C80AE8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0" name="matrix_r1_c1">
            <a:extLst xmlns:a="http://schemas.openxmlformats.org/drawingml/2006/main">
              <a:ext uri="{FF2B5EF4-FFF2-40B4-BE49-F238E27FC236}">
                <a16:creationId xmlns:a16="http://schemas.microsoft.com/office/drawing/2014/main" id="{DACDC317-A992-4298-9E68-B61ECF64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Valid &amp; reliable</a:t>
            </a:r>
          </a:p>
        </p:txBody>
      </p:sp>
      <p:sp>
        <p:nvSpPr>
          <p:cNvPr id="11" name="matrix_r1_c2">
            <a:extLst xmlns:a="http://schemas.openxmlformats.org/drawingml/2006/main">
              <a:ext uri="{FF2B5EF4-FFF2-40B4-BE49-F238E27FC236}">
                <a16:creationId xmlns:a16="http://schemas.microsoft.com/office/drawing/2014/main" id="{4DDA856D-AF20-4E2A-A7FC-6AC834FC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95500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Risk-tiered golden-set replay and dual review</a:t>
            </a:r>
          </a:p>
        </p:txBody>
      </p:sp>
      <p:sp>
        <p:nvSpPr>
          <p:cNvPr id="12" name="matrix_r1_c3">
            <a:extLst xmlns:a="http://schemas.openxmlformats.org/drawingml/2006/main">
              <a:ext uri="{FF2B5EF4-FFF2-40B4-BE49-F238E27FC236}">
                <a16:creationId xmlns:a16="http://schemas.microsoft.com/office/drawing/2014/main" id="{9C43C297-9B4B-4083-8955-63FB455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Task success; unsupported claims | weekly</a:t>
            </a:r>
          </a:p>
        </p:txBody>
      </p:sp>
      <p:sp>
        <p:nvSpPr>
          <p:cNvPr id="13" name="matrix_rule_1">
            <a:extLst xmlns:a="http://schemas.openxmlformats.org/drawingml/2006/main">
              <a:ext uri="{FF2B5EF4-FFF2-40B4-BE49-F238E27FC236}">
                <a16:creationId xmlns:a16="http://schemas.microsoft.com/office/drawing/2014/main" id="{93F30CCB-3479-42FC-B205-F3F1BDF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matrix_row_bg_2">
            <a:extLst xmlns:a="http://schemas.openxmlformats.org/drawingml/2006/main">
              <a:ext uri="{FF2B5EF4-FFF2-40B4-BE49-F238E27FC236}">
                <a16:creationId xmlns:a16="http://schemas.microsoft.com/office/drawing/2014/main" id="{5BCDEE8F-880B-492F-9CAC-F86666F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matrix_r2_c1">
            <a:extLst xmlns:a="http://schemas.openxmlformats.org/drawingml/2006/main">
              <a:ext uri="{FF2B5EF4-FFF2-40B4-BE49-F238E27FC236}">
                <a16:creationId xmlns:a16="http://schemas.microsoft.com/office/drawing/2014/main" id="{D18C15F6-5242-4DC4-831B-AA1A277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7475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Safe</a:t>
            </a:r>
          </a:p>
        </p:txBody>
      </p:sp>
      <p:sp>
        <p:nvSpPr>
          <p:cNvPr id="16" name="matrix_r2_c2">
            <a:extLst xmlns:a="http://schemas.openxmlformats.org/drawingml/2006/main">
              <a:ext uri="{FF2B5EF4-FFF2-40B4-BE49-F238E27FC236}">
                <a16:creationId xmlns:a16="http://schemas.microsoft.com/office/drawing/2014/main" id="{9E3167E1-A2FF-4059-8A06-D48D6203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57475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Red-team fraud, harmful advice, conduct, and actions</a:t>
            </a:r>
          </a:p>
        </p:txBody>
      </p:sp>
      <p:sp>
        <p:nvSpPr>
          <p:cNvPr id="17" name="matrix_r2_c3">
            <a:extLst xmlns:a="http://schemas.openxmlformats.org/drawingml/2006/main">
              <a:ext uri="{FF2B5EF4-FFF2-40B4-BE49-F238E27FC236}">
                <a16:creationId xmlns:a16="http://schemas.microsoft.com/office/drawing/2014/main" id="{312613C7-3BCB-4B1D-A6A7-ACF60B1A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Severe breach; correct escalation | live</a:t>
            </a:r>
          </a:p>
        </p:txBody>
      </p:sp>
      <p:sp>
        <p:nvSpPr>
          <p:cNvPr id="18" name="matrix_rule_2">
            <a:extLst xmlns:a="http://schemas.openxmlformats.org/drawingml/2006/main">
              <a:ext uri="{FF2B5EF4-FFF2-40B4-BE49-F238E27FC236}">
                <a16:creationId xmlns:a16="http://schemas.microsoft.com/office/drawing/2014/main" id="{91CB5807-44BC-4861-97BA-3945B75A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matrix_row_bg_3">
            <a:extLst xmlns:a="http://schemas.openxmlformats.org/drawingml/2006/main">
              <a:ext uri="{FF2B5EF4-FFF2-40B4-BE49-F238E27FC236}">
                <a16:creationId xmlns:a16="http://schemas.microsoft.com/office/drawing/2014/main" id="{9889BF40-8896-4266-B8E5-40E39B2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0" name="matrix_r3_c1">
            <a:extLst xmlns:a="http://schemas.openxmlformats.org/drawingml/2006/main">
              <a:ext uri="{FF2B5EF4-FFF2-40B4-BE49-F238E27FC236}">
                <a16:creationId xmlns:a16="http://schemas.microsoft.com/office/drawing/2014/main" id="{131C1CF6-5DA1-4F9D-AF17-F1BD6CD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Secure &amp; resilient</a:t>
            </a:r>
          </a:p>
        </p:txBody>
      </p:sp>
      <p:sp>
        <p:nvSpPr>
          <p:cNvPr id="21" name="matrix_r3_c2">
            <a:extLst xmlns:a="http://schemas.openxmlformats.org/drawingml/2006/main">
              <a:ext uri="{FF2B5EF4-FFF2-40B4-BE49-F238E27FC236}">
                <a16:creationId xmlns:a16="http://schemas.microsoft.com/office/drawing/2014/main" id="{49C90F4F-A05B-4BD8-B08A-BD8F0FCA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19450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Attack prompts, tools, retrieval, outages, and recovery</a:t>
            </a:r>
          </a:p>
        </p:txBody>
      </p:sp>
      <p:sp>
        <p:nvSpPr>
          <p:cNvPr id="22" name="matrix_r3_c3">
            <a:extLst xmlns:a="http://schemas.openxmlformats.org/drawingml/2006/main">
              <a:ext uri="{FF2B5EF4-FFF2-40B4-BE49-F238E27FC236}">
                <a16:creationId xmlns:a16="http://schemas.microsoft.com/office/drawing/2014/main" id="{BA0BD4EF-517E-4585-9EC9-7E5852B8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Attack success; fallback recovery | monthly</a:t>
            </a:r>
          </a:p>
        </p:txBody>
      </p:sp>
      <p:sp>
        <p:nvSpPr>
          <p:cNvPr id="23" name="matrix_rule_3">
            <a:extLst xmlns:a="http://schemas.openxmlformats.org/drawingml/2006/main">
              <a:ext uri="{FF2B5EF4-FFF2-40B4-BE49-F238E27FC236}">
                <a16:creationId xmlns:a16="http://schemas.microsoft.com/office/drawing/2014/main" id="{E5007BED-5DDF-44D3-B95C-2AA6B2C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_row_bg_4">
            <a:extLst xmlns:a="http://schemas.openxmlformats.org/drawingml/2006/main">
              <a:ext uri="{FF2B5EF4-FFF2-40B4-BE49-F238E27FC236}">
                <a16:creationId xmlns:a16="http://schemas.microsoft.com/office/drawing/2014/main" id="{70D6A2B8-A51E-4509-B6D1-2F38A9A3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matrix_r4_c1">
            <a:extLst xmlns:a="http://schemas.openxmlformats.org/drawingml/2006/main">
              <a:ext uri="{FF2B5EF4-FFF2-40B4-BE49-F238E27FC236}">
                <a16:creationId xmlns:a16="http://schemas.microsoft.com/office/drawing/2014/main" id="{00B6F773-69E6-41E5-B63B-A108FF81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Accountable &amp; transparent</a:t>
            </a:r>
          </a:p>
        </p:txBody>
      </p:sp>
      <p:sp>
        <p:nvSpPr>
          <p:cNvPr id="26" name="matrix_r4_c2">
            <a:extLst xmlns:a="http://schemas.openxmlformats.org/drawingml/2006/main">
              <a:ext uri="{FF2B5EF4-FFF2-40B4-BE49-F238E27FC236}">
                <a16:creationId xmlns:a16="http://schemas.microsoft.com/office/drawing/2014/main" id="{8CB2589F-413D-4360-9D78-3718E38B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81425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Reconstruct model, prompt, source, tool, and approver</a:t>
            </a:r>
          </a:p>
        </p:txBody>
      </p:sp>
      <p:sp>
        <p:nvSpPr>
          <p:cNvPr id="27" name="matrix_r4_c3">
            <a:extLst xmlns:a="http://schemas.openxmlformats.org/drawingml/2006/main">
              <a:ext uri="{FF2B5EF4-FFF2-40B4-BE49-F238E27FC236}">
                <a16:creationId xmlns:a16="http://schemas.microsoft.com/office/drawing/2014/main" id="{CF94433E-0229-4029-8A31-3E1BD01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81425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Trace completeness; exceptions | monthly</a:t>
            </a:r>
          </a:p>
        </p:txBody>
      </p:sp>
      <p:sp>
        <p:nvSpPr>
          <p:cNvPr id="28" name="matrix_rule_4">
            <a:extLst xmlns:a="http://schemas.openxmlformats.org/drawingml/2006/main">
              <a:ext uri="{FF2B5EF4-FFF2-40B4-BE49-F238E27FC236}">
                <a16:creationId xmlns:a16="http://schemas.microsoft.com/office/drawing/2014/main" id="{96013AB9-3542-4BBE-85ED-9DB897C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matrix_row_bg_5">
            <a:extLst xmlns:a="http://schemas.openxmlformats.org/drawingml/2006/main">
              <a:ext uri="{FF2B5EF4-FFF2-40B4-BE49-F238E27FC236}">
                <a16:creationId xmlns:a16="http://schemas.microsoft.com/office/drawing/2014/main" id="{89460558-34AE-4F2D-A9B4-D61161CD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30" name="matrix_r5_c1">
            <a:extLst xmlns:a="http://schemas.openxmlformats.org/drawingml/2006/main">
              <a:ext uri="{FF2B5EF4-FFF2-40B4-BE49-F238E27FC236}">
                <a16:creationId xmlns:a16="http://schemas.microsoft.com/office/drawing/2014/main" id="{B2D4A461-55C0-4942-937F-48F687BD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Explainable &amp; interpretable</a:t>
            </a:r>
          </a:p>
        </p:txBody>
      </p:sp>
      <p:sp>
        <p:nvSpPr>
          <p:cNvPr id="31" name="matrix_r5_c2">
            <a:extLst xmlns:a="http://schemas.openxmlformats.org/drawingml/2006/main">
              <a:ext uri="{FF2B5EF4-FFF2-40B4-BE49-F238E27FC236}">
                <a16:creationId xmlns:a16="http://schemas.microsoft.com/office/drawing/2014/main" id="{C6DE9B12-1350-4FB6-96E6-48645397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43400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Mystery-shop disclosure, reasons, sources, and handoff</a:t>
            </a:r>
          </a:p>
        </p:txBody>
      </p:sp>
      <p:sp>
        <p:nvSpPr>
          <p:cNvPr id="32" name="matrix_r5_c3">
            <a:extLst xmlns:a="http://schemas.openxmlformats.org/drawingml/2006/main">
              <a:ext uri="{FF2B5EF4-FFF2-40B4-BE49-F238E27FC236}">
                <a16:creationId xmlns:a16="http://schemas.microsoft.com/office/drawing/2014/main" id="{9AE62CB1-65F7-45C1-B9FB-F58EAFE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Faithful reason; handoff success | monthly</a:t>
            </a:r>
          </a:p>
        </p:txBody>
      </p:sp>
      <p:sp>
        <p:nvSpPr>
          <p:cNvPr id="33" name="matrix_rule_5">
            <a:extLst xmlns:a="http://schemas.openxmlformats.org/drawingml/2006/main">
              <a:ext uri="{FF2B5EF4-FFF2-40B4-BE49-F238E27FC236}">
                <a16:creationId xmlns:a16="http://schemas.microsoft.com/office/drawing/2014/main" id="{36DA946F-47C0-4AD4-B9AF-09653E7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4" name="matrix_row_bg_6">
            <a:extLst xmlns:a="http://schemas.openxmlformats.org/drawingml/2006/main">
              <a:ext uri="{FF2B5EF4-FFF2-40B4-BE49-F238E27FC236}">
                <a16:creationId xmlns:a16="http://schemas.microsoft.com/office/drawing/2014/main" id="{63784B37-CDF2-44F6-BA91-BE08AE21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matrix_r6_c1">
            <a:extLst xmlns:a="http://schemas.openxmlformats.org/drawingml/2006/main">
              <a:ext uri="{FF2B5EF4-FFF2-40B4-BE49-F238E27FC236}">
                <a16:creationId xmlns:a16="http://schemas.microsoft.com/office/drawing/2014/main" id="{097437C1-3B20-4BF0-AF22-B5E4DB89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Privacy-enhanced</a:t>
            </a:r>
          </a:p>
        </p:txBody>
      </p:sp>
      <p:sp>
        <p:nvSpPr>
          <p:cNvPr id="36" name="matrix_r6_c2">
            <a:extLst xmlns:a="http://schemas.openxmlformats.org/drawingml/2006/main">
              <a:ext uri="{FF2B5EF4-FFF2-40B4-BE49-F238E27FC236}">
                <a16:creationId xmlns:a16="http://schemas.microsoft.com/office/drawing/2014/main" id="{115E3A2C-D831-4F52-A77A-36881317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905375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Plant canary PII across chat, memory, logs, and tools</a:t>
            </a:r>
          </a:p>
        </p:txBody>
      </p:sp>
      <p:sp>
        <p:nvSpPr>
          <p:cNvPr id="37" name="matrix_r6_c3">
            <a:extLst xmlns:a="http://schemas.openxmlformats.org/drawingml/2006/main">
              <a:ext uri="{FF2B5EF4-FFF2-40B4-BE49-F238E27FC236}">
                <a16:creationId xmlns:a16="http://schemas.microsoft.com/office/drawing/2014/main" id="{2768C46C-6167-4CE3-8E86-C11A18E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05375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Leak; retention/access violation | live</a:t>
            </a:r>
          </a:p>
        </p:txBody>
      </p:sp>
      <p:sp>
        <p:nvSpPr>
          <p:cNvPr id="38" name="matrix_rule_6">
            <a:extLst xmlns:a="http://schemas.openxmlformats.org/drawingml/2006/main">
              <a:ext uri="{FF2B5EF4-FFF2-40B4-BE49-F238E27FC236}">
                <a16:creationId xmlns:a16="http://schemas.microsoft.com/office/drawing/2014/main" id="{AC716B6F-26C9-4AB2-9743-3820F2B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9" name="matrix_row_bg_7">
            <a:extLst xmlns:a="http://schemas.openxmlformats.org/drawingml/2006/main">
              <a:ext uri="{FF2B5EF4-FFF2-40B4-BE49-F238E27FC236}">
                <a16:creationId xmlns:a16="http://schemas.microsoft.com/office/drawing/2014/main" id="{4883A08D-FC10-4BC6-B165-589649A6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9725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40" name="matrix_r7_c1">
            <a:extLst xmlns:a="http://schemas.openxmlformats.org/drawingml/2006/main">
              <a:ext uri="{FF2B5EF4-FFF2-40B4-BE49-F238E27FC236}">
                <a16:creationId xmlns:a16="http://schemas.microsoft.com/office/drawing/2014/main" id="{CAA09108-EC5D-4AD6-BDBA-FCD9A3F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2105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92929"/>
                </a:solidFill>
              </a:defRPr>
            </a:pPr>
            <a:r>
              <a:rPr sz="1425" b="1">
                <a:solidFill>
                  <a:srgbClr val="292929"/>
                </a:solidFill>
              </a:rPr>
              <a:t>Fair with bias managed</a:t>
            </a:r>
          </a:p>
        </p:txBody>
      </p:sp>
      <p:sp>
        <p:nvSpPr>
          <p:cNvPr id="41" name="matrix_r7_c2">
            <a:extLst xmlns:a="http://schemas.openxmlformats.org/drawingml/2006/main">
              <a:ext uri="{FF2B5EF4-FFF2-40B4-BE49-F238E27FC236}">
                <a16:creationId xmlns:a16="http://schemas.microsoft.com/office/drawing/2014/main" id="{FF92E7A5-FBB6-4EBB-A79E-D24518F4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67350"/>
            <a:ext cx="5248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Matched pairs by trait, language, dialect, and ability</a:t>
            </a:r>
          </a:p>
        </p:txBody>
      </p:sp>
      <p:sp>
        <p:nvSpPr>
          <p:cNvPr id="42" name="matrix_r7_c3">
            <a:extLst xmlns:a="http://schemas.openxmlformats.org/drawingml/2006/main">
              <a:ext uri="{FF2B5EF4-FFF2-40B4-BE49-F238E27FC236}">
                <a16:creationId xmlns:a16="http://schemas.microsoft.com/office/drawing/2014/main" id="{32690CB9-D8EB-40A9-87A8-1B8B2558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67350"/>
            <a:ext cx="335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Outcome gap + confidence interval | quarterly</a:t>
            </a:r>
          </a:p>
        </p:txBody>
      </p:sp>
      <p:sp>
        <p:nvSpPr>
          <p:cNvPr id="43" name="matrix_rule_7">
            <a:extLst xmlns:a="http://schemas.openxmlformats.org/drawingml/2006/main">
              <a:ext uri="{FF2B5EF4-FFF2-40B4-BE49-F238E27FC236}">
                <a16:creationId xmlns:a16="http://schemas.microsoft.com/office/drawing/2014/main" id="{6B16E307-F9C2-4237-9001-7F9BB554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4" name="matrix_gate">
            <a:extLst xmlns:a="http://schemas.openxmlformats.org/drawingml/2006/main">
              <a:ext uri="{FF2B5EF4-FFF2-40B4-BE49-F238E27FC236}">
                <a16:creationId xmlns:a16="http://schemas.microsoft.com/office/drawing/2014/main" id="{092DFE7B-8919-4DB3-8AEE-534309D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Release gate: named owner + independent challenge + complete audit trail</a:t>
            </a:r>
          </a:p>
        </p:txBody>
      </p:sp>
    </p:spTree>
    <p:extLst>
      <p:ext uri="{BB962C8B-B14F-4D97-AF65-F5344CB8AC3E}">
        <p14:creationId xmlns:p14="http://schemas.microsoft.com/office/powerpoint/2010/main" val="470086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02C7BE6-A70A-4860-B8D5-F280DCE7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VALID AND RELIABLE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473F7F-8453-488C-911A-7C9CF19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Validity starts with risk-tiered conversation sets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333382-33C6-43C4-B9D9-77C2F8FF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 single benchmark cannot represent languages, journeys, customer states, and consequences.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8A0075C-4883-4242-8BC0-640DDDF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test_set_heading">
            <a:extLst xmlns:a="http://schemas.openxmlformats.org/drawingml/2006/main">
              <a:ext uri="{FF2B5EF4-FFF2-40B4-BE49-F238E27FC236}">
                <a16:creationId xmlns:a16="http://schemas.microsoft.com/office/drawing/2014/main" id="{91DE3EC6-02B6-4B44-935F-451B2EC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Build tests from real banking work</a:t>
            </a:r>
          </a:p>
        </p:txBody>
      </p:sp>
      <p:sp>
        <p:nvSpPr>
          <p:cNvPr id="6" name="validity_steps_num_1">
            <a:extLst xmlns:a="http://schemas.openxmlformats.org/drawingml/2006/main">
              <a:ext uri="{FF2B5EF4-FFF2-40B4-BE49-F238E27FC236}">
                <a16:creationId xmlns:a16="http://schemas.microsoft.com/office/drawing/2014/main" id="{E37D63E3-B4F0-4ECF-A11F-7CB435C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validity_steps_title_1">
            <a:extLst xmlns:a="http://schemas.openxmlformats.org/drawingml/2006/main">
              <a:ext uri="{FF2B5EF4-FFF2-40B4-BE49-F238E27FC236}">
                <a16:creationId xmlns:a16="http://schemas.microsoft.com/office/drawing/2014/main" id="{FA00887E-AF7D-4FFD-AC72-3A74F4D9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Stratify</a:t>
            </a:r>
          </a:p>
        </p:txBody>
      </p:sp>
      <p:sp>
        <p:nvSpPr>
          <p:cNvPr id="8" name="validity_steps_body_1">
            <a:extLst xmlns:a="http://schemas.openxmlformats.org/drawingml/2006/main">
              <a:ext uri="{FF2B5EF4-FFF2-40B4-BE49-F238E27FC236}">
                <a16:creationId xmlns:a16="http://schemas.microsoft.com/office/drawing/2014/main" id="{05DD6D2B-303A-4E1F-B9E1-FDB5162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Cover journey, risk tier, language, channel, customer state, and edge cases.</a:t>
            </a:r>
          </a:p>
        </p:txBody>
      </p:sp>
      <p:sp>
        <p:nvSpPr>
          <p:cNvPr id="9" name="validity_steps_rule_1">
            <a:extLst xmlns:a="http://schemas.openxmlformats.org/drawingml/2006/main">
              <a:ext uri="{FF2B5EF4-FFF2-40B4-BE49-F238E27FC236}">
                <a16:creationId xmlns:a16="http://schemas.microsoft.com/office/drawing/2014/main" id="{D7AE1936-2B96-433D-A85F-A2558F0B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validity_steps_num_2">
            <a:extLst xmlns:a="http://schemas.openxmlformats.org/drawingml/2006/main">
              <a:ext uri="{FF2B5EF4-FFF2-40B4-BE49-F238E27FC236}">
                <a16:creationId xmlns:a16="http://schemas.microsoft.com/office/drawing/2014/main" id="{59A1214B-0C19-4C21-AFA1-97BCD0D4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validity_steps_title_2">
            <a:extLst xmlns:a="http://schemas.openxmlformats.org/drawingml/2006/main">
              <a:ext uri="{FF2B5EF4-FFF2-40B4-BE49-F238E27FC236}">
                <a16:creationId xmlns:a16="http://schemas.microsoft.com/office/drawing/2014/main" id="{5342D683-DD0F-4345-8823-8E250C56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443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Ground</a:t>
            </a:r>
          </a:p>
        </p:txBody>
      </p:sp>
      <p:sp>
        <p:nvSpPr>
          <p:cNvPr id="12" name="validity_steps_body_2">
            <a:extLst xmlns:a="http://schemas.openxmlformats.org/drawingml/2006/main">
              <a:ext uri="{FF2B5EF4-FFF2-40B4-BE49-F238E27FC236}">
                <a16:creationId xmlns:a16="http://schemas.microsoft.com/office/drawing/2014/main" id="{11D9A1C8-3894-4F51-87A6-68DE34D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Link every expected answer to an approved policy, product term, or procedure.</a:t>
            </a:r>
          </a:p>
        </p:txBody>
      </p:sp>
      <p:sp>
        <p:nvSpPr>
          <p:cNvPr id="13" name="validity_steps_rule_2">
            <a:extLst xmlns:a="http://schemas.openxmlformats.org/drawingml/2006/main">
              <a:ext uri="{FF2B5EF4-FFF2-40B4-BE49-F238E27FC236}">
                <a16:creationId xmlns:a16="http://schemas.microsoft.com/office/drawing/2014/main" id="{36C4ABF1-45BF-4487-8639-1C6FFC5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75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validity_steps_num_3">
            <a:extLst xmlns:a="http://schemas.openxmlformats.org/drawingml/2006/main">
              <a:ext uri="{FF2B5EF4-FFF2-40B4-BE49-F238E27FC236}">
                <a16:creationId xmlns:a16="http://schemas.microsoft.com/office/drawing/2014/main" id="{9946CBDD-7EF9-459D-8915-DA8561A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validity_steps_title_3">
            <a:extLst xmlns:a="http://schemas.openxmlformats.org/drawingml/2006/main">
              <a:ext uri="{FF2B5EF4-FFF2-40B4-BE49-F238E27FC236}">
                <a16:creationId xmlns:a16="http://schemas.microsoft.com/office/drawing/2014/main" id="{5EB4C8F6-1A61-4C5C-90D1-40EDD0B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43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16" name="validity_steps_body_3">
            <a:extLst xmlns:a="http://schemas.openxmlformats.org/drawingml/2006/main">
              <a:ext uri="{FF2B5EF4-FFF2-40B4-BE49-F238E27FC236}">
                <a16:creationId xmlns:a16="http://schemas.microsoft.com/office/drawing/2014/main" id="{C4E8FC6C-338F-4B34-9D30-068E77B7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Use dual human review for high-risk samples and adjudicate disagreement.</a:t>
            </a:r>
          </a:p>
        </p:txBody>
      </p:sp>
      <p:sp>
        <p:nvSpPr>
          <p:cNvPr id="17" name="validity_steps_rule_3">
            <a:extLst xmlns:a="http://schemas.openxmlformats.org/drawingml/2006/main">
              <a:ext uri="{FF2B5EF4-FFF2-40B4-BE49-F238E27FC236}">
                <a16:creationId xmlns:a16="http://schemas.microsoft.com/office/drawing/2014/main" id="{8838FFC5-0F9C-4EFE-9591-14745F83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validity_steps_num_4">
            <a:extLst xmlns:a="http://schemas.openxmlformats.org/drawingml/2006/main">
              <a:ext uri="{FF2B5EF4-FFF2-40B4-BE49-F238E27FC236}">
                <a16:creationId xmlns:a16="http://schemas.microsoft.com/office/drawing/2014/main" id="{E4EF46B3-BBCD-4067-8898-2DC7876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validity_steps_title_4">
            <a:extLst xmlns:a="http://schemas.openxmlformats.org/drawingml/2006/main">
              <a:ext uri="{FF2B5EF4-FFF2-40B4-BE49-F238E27FC236}">
                <a16:creationId xmlns:a16="http://schemas.microsoft.com/office/drawing/2014/main" id="{F3F1DA19-D9AA-4A0E-BC0F-8986AA1B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48225"/>
            <a:ext cx="443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Refresh</a:t>
            </a:r>
          </a:p>
        </p:txBody>
      </p:sp>
      <p:sp>
        <p:nvSpPr>
          <p:cNvPr id="20" name="validity_steps_body_4">
            <a:extLst xmlns:a="http://schemas.openxmlformats.org/drawingml/2006/main">
              <a:ext uri="{FF2B5EF4-FFF2-40B4-BE49-F238E27FC236}">
                <a16:creationId xmlns:a16="http://schemas.microsoft.com/office/drawing/2014/main" id="{D35F2EFD-6E63-4B9E-B454-9D0584DD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Add incidents, policy changes, drift signals, and newly observed intents.</a:t>
            </a:r>
          </a:p>
        </p:txBody>
      </p:sp>
      <p:sp>
        <p:nvSpPr>
          <p:cNvPr id="21" name="scoring_heading">
            <a:extLst xmlns:a="http://schemas.openxmlformats.org/drawingml/2006/main">
              <a:ext uri="{FF2B5EF4-FFF2-40B4-BE49-F238E27FC236}">
                <a16:creationId xmlns:a16="http://schemas.microsoft.com/office/drawing/2014/main" id="{BF631FB0-8B53-4B5B-AACB-BF2A97D7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60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Score four layers, then inspect failures</a:t>
            </a:r>
          </a:p>
        </p:txBody>
      </p:sp>
      <p:sp>
        <p:nvSpPr>
          <p:cNvPr id="22" name="score_bg_1">
            <a:extLst xmlns:a="http://schemas.openxmlformats.org/drawingml/2006/main">
              <a:ext uri="{FF2B5EF4-FFF2-40B4-BE49-F238E27FC236}">
                <a16:creationId xmlns:a16="http://schemas.microsoft.com/office/drawing/2014/main" id="{5264EAFA-D8C6-4F07-A395-EFE8A977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60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3" name="score_label_1">
            <a:extLst xmlns:a="http://schemas.openxmlformats.org/drawingml/2006/main">
              <a:ext uri="{FF2B5EF4-FFF2-40B4-BE49-F238E27FC236}">
                <a16:creationId xmlns:a16="http://schemas.microsoft.com/office/drawing/2014/main" id="{2CC8C622-504D-415E-B7CE-C183BAE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2887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Automated</a:t>
            </a:r>
          </a:p>
        </p:txBody>
      </p:sp>
      <p:sp>
        <p:nvSpPr>
          <p:cNvPr id="24" name="score_body_1">
            <a:extLst xmlns:a="http://schemas.openxmlformats.org/drawingml/2006/main">
              <a:ext uri="{FF2B5EF4-FFF2-40B4-BE49-F238E27FC236}">
                <a16:creationId xmlns:a16="http://schemas.microsoft.com/office/drawing/2014/main" id="{EAEF682F-0BFE-4CF2-AC1B-1E0E6C3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98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Retrieval precision, groundedness, policy rule checks</a:t>
            </a:r>
          </a:p>
        </p:txBody>
      </p:sp>
      <p:sp>
        <p:nvSpPr>
          <p:cNvPr id="25" name="score_bg_2">
            <a:extLst xmlns:a="http://schemas.openxmlformats.org/drawingml/2006/main">
              <a:ext uri="{FF2B5EF4-FFF2-40B4-BE49-F238E27FC236}">
                <a16:creationId xmlns:a16="http://schemas.microsoft.com/office/drawing/2014/main" id="{54038BD1-0AE2-4328-BAAE-E15A67A5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560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6" name="score_label_2">
            <a:extLst xmlns:a="http://schemas.openxmlformats.org/drawingml/2006/main">
              <a:ext uri="{FF2B5EF4-FFF2-40B4-BE49-F238E27FC236}">
                <a16:creationId xmlns:a16="http://schemas.microsoft.com/office/drawing/2014/main" id="{1BE22FFB-A409-4A91-9E6A-FB6DD5B6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Human</a:t>
            </a:r>
          </a:p>
        </p:txBody>
      </p:sp>
      <p:sp>
        <p:nvSpPr>
          <p:cNvPr id="27" name="score_body_2">
            <a:extLst xmlns:a="http://schemas.openxmlformats.org/drawingml/2006/main">
              <a:ext uri="{FF2B5EF4-FFF2-40B4-BE49-F238E27FC236}">
                <a16:creationId xmlns:a16="http://schemas.microsoft.com/office/drawing/2014/main" id="{649D61FF-DC4D-41DA-A0F2-FB4FE44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38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Correctness, completeness, clarity, suitability, severity</a:t>
            </a:r>
          </a:p>
        </p:txBody>
      </p:sp>
      <p:sp>
        <p:nvSpPr>
          <p:cNvPr id="28" name="score_bg_3">
            <a:extLst xmlns:a="http://schemas.openxmlformats.org/drawingml/2006/main">
              <a:ext uri="{FF2B5EF4-FFF2-40B4-BE49-F238E27FC236}">
                <a16:creationId xmlns:a16="http://schemas.microsoft.com/office/drawing/2014/main" id="{B180B807-6D38-4F9A-A33A-5D29C03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90975"/>
            <a:ext cx="560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9" name="score_label_3">
            <a:extLst xmlns:a="http://schemas.openxmlformats.org/drawingml/2006/main">
              <a:ext uri="{FF2B5EF4-FFF2-40B4-BE49-F238E27FC236}">
                <a16:creationId xmlns:a16="http://schemas.microsoft.com/office/drawing/2014/main" id="{B46F55F5-D172-48B5-9501-98EA345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862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Outcome</a:t>
            </a:r>
          </a:p>
        </p:txBody>
      </p:sp>
      <p:sp>
        <p:nvSpPr>
          <p:cNvPr id="30" name="score_body_3">
            <a:extLst xmlns:a="http://schemas.openxmlformats.org/drawingml/2006/main">
              <a:ext uri="{FF2B5EF4-FFF2-40B4-BE49-F238E27FC236}">
                <a16:creationId xmlns:a16="http://schemas.microsoft.com/office/drawing/2014/main" id="{E26257B7-51FA-4784-966E-A80EE55D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671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Task success, repeat contact, complaint, transfer to human</a:t>
            </a:r>
          </a:p>
        </p:txBody>
      </p:sp>
      <p:sp>
        <p:nvSpPr>
          <p:cNvPr id="31" name="score_bg_4">
            <a:extLst xmlns:a="http://schemas.openxmlformats.org/drawingml/2006/main">
              <a:ext uri="{FF2B5EF4-FFF2-40B4-BE49-F238E27FC236}">
                <a16:creationId xmlns:a16="http://schemas.microsoft.com/office/drawing/2014/main" id="{5878F283-6B1D-4097-A07B-5D4E5779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560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solidFill>
              <a:srgbClr val="FFF1EB"/>
            </a:solidFill>
            <a:prstDash val="solid"/>
          </a:ln>
        </p:spPr>
      </p:sp>
      <p:sp>
        <p:nvSpPr>
          <p:cNvPr id="32" name="score_label_4">
            <a:extLst xmlns:a="http://schemas.openxmlformats.org/drawingml/2006/main">
              <a:ext uri="{FF2B5EF4-FFF2-40B4-BE49-F238E27FC236}">
                <a16:creationId xmlns:a16="http://schemas.microsoft.com/office/drawing/2014/main" id="{84F834D6-5630-4809-B121-55F1DBAE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149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Drift</a:t>
            </a:r>
          </a:p>
        </p:txBody>
      </p:sp>
      <p:sp>
        <p:nvSpPr>
          <p:cNvPr id="33" name="score_body_4">
            <a:extLst xmlns:a="http://schemas.openxmlformats.org/drawingml/2006/main">
              <a:ext uri="{FF2B5EF4-FFF2-40B4-BE49-F238E27FC236}">
                <a16:creationId xmlns:a16="http://schemas.microsoft.com/office/drawing/2014/main" id="{5042E7AD-6775-4DF3-9509-F24BD018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958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Intent mix, unsupported claims, source freshness, cohort change</a:t>
            </a:r>
          </a:p>
        </p:txBody>
      </p:sp>
      <p:sp>
        <p:nvSpPr>
          <p:cNvPr id="34" name="validity_gate">
            <a:extLst xmlns:a="http://schemas.openxmlformats.org/drawingml/2006/main">
              <a:ext uri="{FF2B5EF4-FFF2-40B4-BE49-F238E27FC236}">
                <a16:creationId xmlns:a16="http://schemas.microsoft.com/office/drawing/2014/main" id="{548736A4-8D4B-4233-8D50-13690F32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560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5" name="validity_gate_text">
            <a:extLst xmlns:a="http://schemas.openxmlformats.org/drawingml/2006/main">
              <a:ext uri="{FF2B5EF4-FFF2-40B4-BE49-F238E27FC236}">
                <a16:creationId xmlns:a16="http://schemas.microsoft.com/office/drawing/2014/main" id="{CF054B54-5535-4AFE-A681-D9E612C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19775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 not average away a high-severity failure.</a:t>
            </a:r>
          </a:p>
        </p:txBody>
      </p:sp>
      <p:sp>
        <p:nvSpPr>
          <p:cNvPr id="36" name="validity_owner">
            <a:extLst xmlns:a="http://schemas.openxmlformats.org/drawingml/2006/main">
              <a:ext uri="{FF2B5EF4-FFF2-40B4-BE49-F238E27FC236}">
                <a16:creationId xmlns:a16="http://schemas.microsoft.com/office/drawing/2014/main" id="{2FC27CD0-2185-4E0D-8E25-308187FB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Owner: Product quality + Model Risk | Release and weekly review</a:t>
            </a:r>
          </a:p>
        </p:txBody>
      </p:sp>
    </p:spTree>
    <p:extLst>
      <p:ext uri="{BB962C8B-B14F-4D97-AF65-F5344CB8AC3E}">
        <p14:creationId xmlns:p14="http://schemas.microsoft.com/office/powerpoint/2010/main" val="2124509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5FFC8B6-967D-4E4C-AB6C-BF69B830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SAFE AND FAIR CONDUCT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FB8397-1041-47B4-858B-6ECC9C8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Safety testing starts with unacceptable harms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0F5F481-C387-49A6-A444-D627FD45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Define the harm taxonomy before writing prompts or choosing a model.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494F7CC-59D4-4AC8-97BA-0EADF27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harm_heading">
            <a:extLst xmlns:a="http://schemas.openxmlformats.org/drawingml/2006/main">
              <a:ext uri="{FF2B5EF4-FFF2-40B4-BE49-F238E27FC236}">
                <a16:creationId xmlns:a16="http://schemas.microsoft.com/office/drawing/2014/main" id="{05C89F0A-F9C7-4CFE-B1B9-B96D19CD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Unacceptable outcomes</a:t>
            </a:r>
          </a:p>
        </p:txBody>
      </p:sp>
      <p:sp>
        <p:nvSpPr>
          <p:cNvPr id="6" name="harm_label_1">
            <a:extLst xmlns:a="http://schemas.openxmlformats.org/drawingml/2006/main">
              <a:ext uri="{FF2B5EF4-FFF2-40B4-BE49-F238E27FC236}">
                <a16:creationId xmlns:a16="http://schemas.microsoft.com/office/drawing/2014/main" id="{FE978BE5-3D16-4710-B884-B8F44B23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Customer harm</a:t>
            </a:r>
          </a:p>
        </p:txBody>
      </p:sp>
      <p:sp>
        <p:nvSpPr>
          <p:cNvPr id="7" name="harm_body_1">
            <a:extLst xmlns:a="http://schemas.openxmlformats.org/drawingml/2006/main">
              <a:ext uri="{FF2B5EF4-FFF2-40B4-BE49-F238E27FC236}">
                <a16:creationId xmlns:a16="http://schemas.microsoft.com/office/drawing/2014/main" id="{8B2B7BAA-B2DB-4734-82DD-A02CEDF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Misleading fees, unsuitable guidance, denied complaint access</a:t>
            </a:r>
          </a:p>
        </p:txBody>
      </p:sp>
      <p:sp>
        <p:nvSpPr>
          <p:cNvPr id="8" name="harm_rule_1">
            <a:extLst xmlns:a="http://schemas.openxmlformats.org/drawingml/2006/main">
              <a:ext uri="{FF2B5EF4-FFF2-40B4-BE49-F238E27FC236}">
                <a16:creationId xmlns:a16="http://schemas.microsoft.com/office/drawing/2014/main" id="{85D4BCBB-F9A3-43B4-9022-6C44138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432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harm_label_2">
            <a:extLst xmlns:a="http://schemas.openxmlformats.org/drawingml/2006/main">
              <a:ext uri="{FF2B5EF4-FFF2-40B4-BE49-F238E27FC236}">
                <a16:creationId xmlns:a16="http://schemas.microsoft.com/office/drawing/2014/main" id="{19346CD9-0545-4571-A569-69A76B8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Financial crime</a:t>
            </a:r>
          </a:p>
        </p:txBody>
      </p:sp>
      <p:sp>
        <p:nvSpPr>
          <p:cNvPr id="10" name="harm_body_2">
            <a:extLst xmlns:a="http://schemas.openxmlformats.org/drawingml/2006/main">
              <a:ext uri="{FF2B5EF4-FFF2-40B4-BE49-F238E27FC236}">
                <a16:creationId xmlns:a16="http://schemas.microsoft.com/office/drawing/2014/main" id="{B4A9A45B-E4A3-4A57-949F-D4FC897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146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Fraud facilitation, phishing, evasion, money-mule behavior</a:t>
            </a:r>
          </a:p>
        </p:txBody>
      </p:sp>
      <p:sp>
        <p:nvSpPr>
          <p:cNvPr id="11" name="harm_rule_2">
            <a:extLst xmlns:a="http://schemas.openxmlformats.org/drawingml/2006/main">
              <a:ext uri="{FF2B5EF4-FFF2-40B4-BE49-F238E27FC236}">
                <a16:creationId xmlns:a16="http://schemas.microsoft.com/office/drawing/2014/main" id="{AE234C96-AEC7-4100-A990-4D45C7F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harm_label_3">
            <a:extLst xmlns:a="http://schemas.openxmlformats.org/drawingml/2006/main">
              <a:ext uri="{FF2B5EF4-FFF2-40B4-BE49-F238E27FC236}">
                <a16:creationId xmlns:a16="http://schemas.microsoft.com/office/drawing/2014/main" id="{228AD63C-5A3E-48EC-BBBE-51F6F272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Conduct</a:t>
            </a:r>
          </a:p>
        </p:txBody>
      </p:sp>
      <p:sp>
        <p:nvSpPr>
          <p:cNvPr id="13" name="harm_body_3">
            <a:extLst xmlns:a="http://schemas.openxmlformats.org/drawingml/2006/main">
              <a:ext uri="{FF2B5EF4-FFF2-40B4-BE49-F238E27FC236}">
                <a16:creationId xmlns:a16="http://schemas.microsoft.com/office/drawing/2014/main" id="{8A84B449-F07D-480B-95FC-92E4546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814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Manipulative selling, discriminatory refusal, pressure, hidden limits</a:t>
            </a:r>
          </a:p>
        </p:txBody>
      </p:sp>
      <p:sp>
        <p:nvSpPr>
          <p:cNvPr id="14" name="harm_rule_3">
            <a:extLst xmlns:a="http://schemas.openxmlformats.org/drawingml/2006/main">
              <a:ext uri="{FF2B5EF4-FFF2-40B4-BE49-F238E27FC236}">
                <a16:creationId xmlns:a16="http://schemas.microsoft.com/office/drawing/2014/main" id="{9D985EFF-544C-4004-92F3-C74315D4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harm_label_4">
            <a:extLst xmlns:a="http://schemas.openxmlformats.org/drawingml/2006/main">
              <a:ext uri="{FF2B5EF4-FFF2-40B4-BE49-F238E27FC236}">
                <a16:creationId xmlns:a16="http://schemas.microsoft.com/office/drawing/2014/main" id="{4E8E1330-9AF7-4073-AA74-B462A9B3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Operational harm</a:t>
            </a:r>
          </a:p>
        </p:txBody>
      </p:sp>
      <p:sp>
        <p:nvSpPr>
          <p:cNvPr id="16" name="harm_body_4">
            <a:extLst xmlns:a="http://schemas.openxmlformats.org/drawingml/2006/main">
              <a:ext uri="{FF2B5EF4-FFF2-40B4-BE49-F238E27FC236}">
                <a16:creationId xmlns:a16="http://schemas.microsoft.com/office/drawing/2014/main" id="{11A879BD-CAD5-40F6-9307-18E87123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482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Unauthorized action, missing confirmation, failed handoff or reversal</a:t>
            </a:r>
          </a:p>
        </p:txBody>
      </p:sp>
      <p:sp>
        <p:nvSpPr>
          <p:cNvPr id="17" name="method_heading">
            <a:extLst xmlns:a="http://schemas.openxmlformats.org/drawingml/2006/main">
              <a:ext uri="{FF2B5EF4-FFF2-40B4-BE49-F238E27FC236}">
                <a16:creationId xmlns:a16="http://schemas.microsoft.com/office/drawing/2014/main" id="{0DDE300D-F196-4BEF-A078-D66C27C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Red-team method</a:t>
            </a:r>
          </a:p>
        </p:txBody>
      </p:sp>
      <p:sp>
        <p:nvSpPr>
          <p:cNvPr id="18" name="method_num_1">
            <a:extLst xmlns:a="http://schemas.openxmlformats.org/drawingml/2006/main">
              <a:ext uri="{FF2B5EF4-FFF2-40B4-BE49-F238E27FC236}">
                <a16:creationId xmlns:a16="http://schemas.microsoft.com/office/drawing/2014/main" id="{2A9C9A38-4B28-46BB-87C9-DD592EFB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9" name="method_label_1">
            <a:extLst xmlns:a="http://schemas.openxmlformats.org/drawingml/2006/main">
              <a:ext uri="{FF2B5EF4-FFF2-40B4-BE49-F238E27FC236}">
                <a16:creationId xmlns:a16="http://schemas.microsoft.com/office/drawing/2014/main" id="{51960F45-B7D4-4230-B35F-6638A70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47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Scenario library</a:t>
            </a:r>
          </a:p>
        </p:txBody>
      </p:sp>
      <p:sp>
        <p:nvSpPr>
          <p:cNvPr id="20" name="method_body_1">
            <a:extLst xmlns:a="http://schemas.openxmlformats.org/drawingml/2006/main">
              <a:ext uri="{FF2B5EF4-FFF2-40B4-BE49-F238E27FC236}">
                <a16:creationId xmlns:a16="http://schemas.microsoft.com/office/drawing/2014/main" id="{043AE5EB-9568-4043-B9A1-3ADCEBA8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47900"/>
            <a:ext cx="3076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Real journeys, abuse cases, near misses, and regulator concerns</a:t>
            </a:r>
          </a:p>
        </p:txBody>
      </p:sp>
      <p:sp>
        <p:nvSpPr>
          <p:cNvPr id="21" name="method_num_2">
            <a:extLst xmlns:a="http://schemas.openxmlformats.org/drawingml/2006/main">
              <a:ext uri="{FF2B5EF4-FFF2-40B4-BE49-F238E27FC236}">
                <a16:creationId xmlns:a16="http://schemas.microsoft.com/office/drawing/2014/main" id="{BB03887A-D949-47B9-A92A-9C4F0E01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22" name="method_label_2">
            <a:extLst xmlns:a="http://schemas.openxmlformats.org/drawingml/2006/main">
              <a:ext uri="{FF2B5EF4-FFF2-40B4-BE49-F238E27FC236}">
                <a16:creationId xmlns:a16="http://schemas.microsoft.com/office/drawing/2014/main" id="{3EB12120-155F-46A5-8A66-D6A6CBEE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Adversarial variants</a:t>
            </a:r>
          </a:p>
        </p:txBody>
      </p:sp>
      <p:sp>
        <p:nvSpPr>
          <p:cNvPr id="23" name="method_body_2">
            <a:extLst xmlns:a="http://schemas.openxmlformats.org/drawingml/2006/main">
              <a:ext uri="{FF2B5EF4-FFF2-40B4-BE49-F238E27FC236}">
                <a16:creationId xmlns:a16="http://schemas.microsoft.com/office/drawing/2014/main" id="{ED6F9070-849C-41FF-805C-7D8DD5BE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9900"/>
            <a:ext cx="3076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Role play, social engineering, ambiguity, multilingual and long-context attacks</a:t>
            </a:r>
          </a:p>
        </p:txBody>
      </p:sp>
      <p:sp>
        <p:nvSpPr>
          <p:cNvPr id="24" name="method_num_3">
            <a:extLst xmlns:a="http://schemas.openxmlformats.org/drawingml/2006/main">
              <a:ext uri="{FF2B5EF4-FFF2-40B4-BE49-F238E27FC236}">
                <a16:creationId xmlns:a16="http://schemas.microsoft.com/office/drawing/2014/main" id="{1A08C0CA-D7D3-4AAD-8953-C0ADD9AB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5" name="method_label_3">
            <a:extLst xmlns:a="http://schemas.openxmlformats.org/drawingml/2006/main">
              <a:ext uri="{FF2B5EF4-FFF2-40B4-BE49-F238E27FC236}">
                <a16:creationId xmlns:a16="http://schemas.microsoft.com/office/drawing/2014/main" id="{3FCAB8AA-7922-46F8-BC3B-222150A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Severity review</a:t>
            </a:r>
          </a:p>
        </p:txBody>
      </p:sp>
      <p:sp>
        <p:nvSpPr>
          <p:cNvPr id="26" name="method_body_3">
            <a:extLst xmlns:a="http://schemas.openxmlformats.org/drawingml/2006/main">
              <a:ext uri="{FF2B5EF4-FFF2-40B4-BE49-F238E27FC236}">
                <a16:creationId xmlns:a16="http://schemas.microsoft.com/office/drawing/2014/main" id="{B7722CD9-404D-4327-B18E-AF2BD308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71900"/>
            <a:ext cx="3076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Rate customer impact, reversibility, scale, and detectability</a:t>
            </a:r>
          </a:p>
        </p:txBody>
      </p:sp>
      <p:sp>
        <p:nvSpPr>
          <p:cNvPr id="27" name="method_num_4">
            <a:extLst xmlns:a="http://schemas.openxmlformats.org/drawingml/2006/main">
              <a:ext uri="{FF2B5EF4-FFF2-40B4-BE49-F238E27FC236}">
                <a16:creationId xmlns:a16="http://schemas.microsoft.com/office/drawing/2014/main" id="{E39B889A-6438-4094-8F4E-677DDEC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8" name="method_label_4">
            <a:extLst xmlns:a="http://schemas.openxmlformats.org/drawingml/2006/main">
              <a:ext uri="{FF2B5EF4-FFF2-40B4-BE49-F238E27FC236}">
                <a16:creationId xmlns:a16="http://schemas.microsoft.com/office/drawing/2014/main" id="{F509B398-77D9-4132-B7E1-3F0A285D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33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Regression gate</a:t>
            </a:r>
          </a:p>
        </p:txBody>
      </p:sp>
      <p:sp>
        <p:nvSpPr>
          <p:cNvPr id="29" name="method_body_4">
            <a:extLst xmlns:a="http://schemas.openxmlformats.org/drawingml/2006/main">
              <a:ext uri="{FF2B5EF4-FFF2-40B4-BE49-F238E27FC236}">
                <a16:creationId xmlns:a16="http://schemas.microsoft.com/office/drawing/2014/main" id="{6B5AF6CB-D5F9-4E49-BBD9-7D32754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33900"/>
            <a:ext cx="3076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Every confirmed failure becomes a permanent release test</a:t>
            </a:r>
          </a:p>
        </p:txBody>
      </p:sp>
      <p:sp>
        <p:nvSpPr>
          <p:cNvPr id="30" name="safety_gate">
            <a:extLst xmlns:a="http://schemas.openxmlformats.org/drawingml/2006/main">
              <a:ext uri="{FF2B5EF4-FFF2-40B4-BE49-F238E27FC236}">
                <a16:creationId xmlns:a16="http://schemas.microsoft.com/office/drawing/2014/main" id="{0C200855-415C-467E-871E-B808C888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600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safety_gate_text">
            <a:extLst xmlns:a="http://schemas.openxmlformats.org/drawingml/2006/main">
              <a:ext uri="{FF2B5EF4-FFF2-40B4-BE49-F238E27FC236}">
                <a16:creationId xmlns:a16="http://schemas.microsoft.com/office/drawing/2014/main" id="{E56D86CD-CD8E-4343-9905-F2077F5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05450"/>
            <a:ext cx="521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Gate critical failures at zero unresolved cases.</a:t>
            </a:r>
          </a:p>
        </p:txBody>
      </p:sp>
      <p:sp>
        <p:nvSpPr>
          <p:cNvPr id="32" name="safety_metrics">
            <a:extLst xmlns:a="http://schemas.openxmlformats.org/drawingml/2006/main">
              <a:ext uri="{FF2B5EF4-FFF2-40B4-BE49-F238E27FC236}">
                <a16:creationId xmlns:a16="http://schemas.microsoft.com/office/drawing/2014/main" id="{98D91FF8-1DC8-42B0-AABC-3015FE95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Measure: severe breach | correct refusal | correct escalation | recovery success</a:t>
            </a:r>
          </a:p>
        </p:txBody>
      </p:sp>
    </p:spTree>
    <p:extLst>
      <p:ext uri="{BB962C8B-B14F-4D97-AF65-F5344CB8AC3E}">
        <p14:creationId xmlns:p14="http://schemas.microsoft.com/office/powerpoint/2010/main" val="1337204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673EE93-F662-4FFD-8ED9-1513721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SECURE, PRIVATE, AND RESILIENT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BBFBB1-E12E-4C62-B6E6-96B271F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Security tests must assume hostile inputs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8B61ACD-4455-4E00-AC5F-904933C9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Test the complete application path, including retrieval, memory, permissions, and recovery.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E1F73CE-AFFE-4DD1-ADCD-17C2020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security_header">
            <a:extLst xmlns:a="http://schemas.openxmlformats.org/drawingml/2006/main">
              <a:ext uri="{FF2B5EF4-FFF2-40B4-BE49-F238E27FC236}">
                <a16:creationId xmlns:a16="http://schemas.microsoft.com/office/drawing/2014/main" id="{820BC053-1A71-41E5-BEF6-03C210A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security_header_1">
            <a:extLst xmlns:a="http://schemas.openxmlformats.org/drawingml/2006/main">
              <a:ext uri="{FF2B5EF4-FFF2-40B4-BE49-F238E27FC236}">
                <a16:creationId xmlns:a16="http://schemas.microsoft.com/office/drawing/2014/main" id="{7565990E-059D-410C-99D0-98910423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7" name="security_header_2">
            <a:extLst xmlns:a="http://schemas.openxmlformats.org/drawingml/2006/main">
              <a:ext uri="{FF2B5EF4-FFF2-40B4-BE49-F238E27FC236}">
                <a16:creationId xmlns:a16="http://schemas.microsoft.com/office/drawing/2014/main" id="{7EFF30D0-4C7B-4AC5-BD0C-9E7719DE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43075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How to test</a:t>
            </a:r>
          </a:p>
        </p:txBody>
      </p:sp>
      <p:sp>
        <p:nvSpPr>
          <p:cNvPr id="8" name="security_header_3">
            <a:extLst xmlns:a="http://schemas.openxmlformats.org/drawingml/2006/main">
              <a:ext uri="{FF2B5EF4-FFF2-40B4-BE49-F238E27FC236}">
                <a16:creationId xmlns:a16="http://schemas.microsoft.com/office/drawing/2014/main" id="{79B8112E-1B68-4953-878C-26F4F5A6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43075"/>
            <a:ext cx="3933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9" name="security_bg_1">
            <a:extLst xmlns:a="http://schemas.openxmlformats.org/drawingml/2006/main">
              <a:ext uri="{FF2B5EF4-FFF2-40B4-BE49-F238E27FC236}">
                <a16:creationId xmlns:a16="http://schemas.microsoft.com/office/drawing/2014/main" id="{AB46BDAF-42BB-462C-BF83-279A9A9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10" name="security_r1_c1">
            <a:extLst xmlns:a="http://schemas.openxmlformats.org/drawingml/2006/main">
              <a:ext uri="{FF2B5EF4-FFF2-40B4-BE49-F238E27FC236}">
                <a16:creationId xmlns:a16="http://schemas.microsoft.com/office/drawing/2014/main" id="{9A758088-3E3A-4489-9339-B097C247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971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2929"/>
                </a:solidFill>
              </a:defRPr>
            </a:pPr>
            <a:r>
              <a:rPr sz="1350" b="1">
                <a:solidFill>
                  <a:srgbClr val="292929"/>
                </a:solidFill>
              </a:rPr>
              <a:t>Prompt injection</a:t>
            </a:r>
          </a:p>
        </p:txBody>
      </p:sp>
      <p:sp>
        <p:nvSpPr>
          <p:cNvPr id="11" name="security_r1_c2">
            <a:extLst xmlns:a="http://schemas.openxmlformats.org/drawingml/2006/main">
              <a:ext uri="{FF2B5EF4-FFF2-40B4-BE49-F238E27FC236}">
                <a16:creationId xmlns:a16="http://schemas.microsoft.com/office/drawing/2014/main" id="{98E25745-9D3E-4915-9CC8-3B742CDC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62175"/>
            <a:ext cx="468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Direct and indirect attacks through chat, documents, links, and retrieved content</a:t>
            </a:r>
          </a:p>
        </p:txBody>
      </p:sp>
      <p:sp>
        <p:nvSpPr>
          <p:cNvPr id="12" name="security_r1_c3">
            <a:extLst xmlns:a="http://schemas.openxmlformats.org/drawingml/2006/main">
              <a:ext uri="{FF2B5EF4-FFF2-40B4-BE49-F238E27FC236}">
                <a16:creationId xmlns:a16="http://schemas.microsoft.com/office/drawing/2014/main" id="{96C9261F-7F3C-4FC9-9EEC-14EFB52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6217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Attack success, policy bypass, tool-call attempts</a:t>
            </a:r>
          </a:p>
        </p:txBody>
      </p:sp>
      <p:sp>
        <p:nvSpPr>
          <p:cNvPr id="13" name="security_rule_1">
            <a:extLst xmlns:a="http://schemas.openxmlformats.org/drawingml/2006/main">
              <a:ext uri="{FF2B5EF4-FFF2-40B4-BE49-F238E27FC236}">
                <a16:creationId xmlns:a16="http://schemas.microsoft.com/office/drawing/2014/main" id="{DC17D045-F84C-47B0-89F9-ADF16028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ecurity_bg_2">
            <a:extLst xmlns:a="http://schemas.openxmlformats.org/drawingml/2006/main">
              <a:ext uri="{FF2B5EF4-FFF2-40B4-BE49-F238E27FC236}">
                <a16:creationId xmlns:a16="http://schemas.microsoft.com/office/drawing/2014/main" id="{72B14E95-1413-4A65-92D9-B8E90523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security_r2_c1">
            <a:extLst xmlns:a="http://schemas.openxmlformats.org/drawingml/2006/main">
              <a:ext uri="{FF2B5EF4-FFF2-40B4-BE49-F238E27FC236}">
                <a16:creationId xmlns:a16="http://schemas.microsoft.com/office/drawing/2014/main" id="{54E1B4AA-E328-4E8F-BF4D-A4D21E6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971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2929"/>
                </a:solidFill>
              </a:defRPr>
            </a:pPr>
            <a:r>
              <a:rPr sz="1350" b="1">
                <a:solidFill>
                  <a:srgbClr val="292929"/>
                </a:solidFill>
              </a:rPr>
              <a:t>Sensitive disclosure</a:t>
            </a:r>
          </a:p>
        </p:txBody>
      </p:sp>
      <p:sp>
        <p:nvSpPr>
          <p:cNvPr id="16" name="security_r2_c2">
            <a:extLst xmlns:a="http://schemas.openxmlformats.org/drawingml/2006/main">
              <a:ext uri="{FF2B5EF4-FFF2-40B4-BE49-F238E27FC236}">
                <a16:creationId xmlns:a16="http://schemas.microsoft.com/office/drawing/2014/main" id="{C6E040BE-E994-47E4-B67E-FF5A250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86075"/>
            <a:ext cx="468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Canary PII in prompts, memory, logs, sources, and connected systems</a:t>
            </a:r>
          </a:p>
        </p:txBody>
      </p:sp>
      <p:sp>
        <p:nvSpPr>
          <p:cNvPr id="17" name="security_r2_c3">
            <a:extLst xmlns:a="http://schemas.openxmlformats.org/drawingml/2006/main">
              <a:ext uri="{FF2B5EF4-FFF2-40B4-BE49-F238E27FC236}">
                <a16:creationId xmlns:a16="http://schemas.microsoft.com/office/drawing/2014/main" id="{4EEE4201-12F1-4D4F-A7F4-FFA2A8C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Leak rate, access violation, retention breach</a:t>
            </a:r>
          </a:p>
        </p:txBody>
      </p:sp>
      <p:sp>
        <p:nvSpPr>
          <p:cNvPr id="18" name="security_rule_2">
            <a:extLst xmlns:a="http://schemas.openxmlformats.org/drawingml/2006/main">
              <a:ext uri="{FF2B5EF4-FFF2-40B4-BE49-F238E27FC236}">
                <a16:creationId xmlns:a16="http://schemas.microsoft.com/office/drawing/2014/main" id="{05619ACA-8E94-43C6-B207-CB5651E1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security_bg_3">
            <a:extLst xmlns:a="http://schemas.openxmlformats.org/drawingml/2006/main">
              <a:ext uri="{FF2B5EF4-FFF2-40B4-BE49-F238E27FC236}">
                <a16:creationId xmlns:a16="http://schemas.microsoft.com/office/drawing/2014/main" id="{ABEEB36C-0CFE-4A41-84A5-DF87320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20" name="security_r3_c1">
            <a:extLst xmlns:a="http://schemas.openxmlformats.org/drawingml/2006/main">
              <a:ext uri="{FF2B5EF4-FFF2-40B4-BE49-F238E27FC236}">
                <a16:creationId xmlns:a16="http://schemas.microsoft.com/office/drawing/2014/main" id="{3EF621E7-55CD-40AE-9B87-FD379F04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71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2929"/>
                </a:solidFill>
              </a:defRPr>
            </a:pPr>
            <a:r>
              <a:rPr sz="1350" b="1">
                <a:solidFill>
                  <a:srgbClr val="292929"/>
                </a:solidFill>
              </a:rPr>
              <a:t>Excessive agency</a:t>
            </a:r>
          </a:p>
        </p:txBody>
      </p:sp>
      <p:sp>
        <p:nvSpPr>
          <p:cNvPr id="21" name="security_r3_c2">
            <a:extLst xmlns:a="http://schemas.openxmlformats.org/drawingml/2006/main">
              <a:ext uri="{FF2B5EF4-FFF2-40B4-BE49-F238E27FC236}">
                <a16:creationId xmlns:a16="http://schemas.microsoft.com/office/drawing/2014/main" id="{4B4C219B-5D70-41FF-8294-F710B2B9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609975"/>
            <a:ext cx="468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Attempt actions outside purpose, permission, amount, beneficiary, and approval</a:t>
            </a:r>
          </a:p>
        </p:txBody>
      </p:sp>
      <p:sp>
        <p:nvSpPr>
          <p:cNvPr id="22" name="security_r3_c3">
            <a:extLst xmlns:a="http://schemas.openxmlformats.org/drawingml/2006/main">
              <a:ext uri="{FF2B5EF4-FFF2-40B4-BE49-F238E27FC236}">
                <a16:creationId xmlns:a16="http://schemas.microsoft.com/office/drawing/2014/main" id="{4C302ED2-1CA6-4BC1-AD3C-21812D67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0997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Unauthorized action and confirmation bypass</a:t>
            </a:r>
          </a:p>
        </p:txBody>
      </p:sp>
      <p:sp>
        <p:nvSpPr>
          <p:cNvPr id="23" name="security_rule_3">
            <a:extLst xmlns:a="http://schemas.openxmlformats.org/drawingml/2006/main">
              <a:ext uri="{FF2B5EF4-FFF2-40B4-BE49-F238E27FC236}">
                <a16:creationId xmlns:a16="http://schemas.microsoft.com/office/drawing/2014/main" id="{808AD5BC-EFA8-43AF-839F-F0C3C1C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security_bg_4">
            <a:extLst xmlns:a="http://schemas.openxmlformats.org/drawingml/2006/main">
              <a:ext uri="{FF2B5EF4-FFF2-40B4-BE49-F238E27FC236}">
                <a16:creationId xmlns:a16="http://schemas.microsoft.com/office/drawing/2014/main" id="{6B82AA14-77EC-4042-B059-12399726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security_r4_c1">
            <a:extLst xmlns:a="http://schemas.openxmlformats.org/drawingml/2006/main">
              <a:ext uri="{FF2B5EF4-FFF2-40B4-BE49-F238E27FC236}">
                <a16:creationId xmlns:a16="http://schemas.microsoft.com/office/drawing/2014/main" id="{8F832DF4-753B-4D82-82BE-5F06FA4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971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2929"/>
                </a:solidFill>
              </a:defRPr>
            </a:pPr>
            <a:r>
              <a:rPr sz="1350" b="1">
                <a:solidFill>
                  <a:srgbClr val="292929"/>
                </a:solidFill>
              </a:rPr>
              <a:t>Retrieval poisoning</a:t>
            </a:r>
          </a:p>
        </p:txBody>
      </p:sp>
      <p:sp>
        <p:nvSpPr>
          <p:cNvPr id="26" name="security_r4_c2">
            <a:extLst xmlns:a="http://schemas.openxmlformats.org/drawingml/2006/main">
              <a:ext uri="{FF2B5EF4-FFF2-40B4-BE49-F238E27FC236}">
                <a16:creationId xmlns:a16="http://schemas.microsoft.com/office/drawing/2014/main" id="{D39793E4-7E99-42D5-B14F-F7FE37E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33875"/>
            <a:ext cx="468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Seed conflicting, stale, malicious, and low-authority content</a:t>
            </a:r>
          </a:p>
        </p:txBody>
      </p:sp>
      <p:sp>
        <p:nvSpPr>
          <p:cNvPr id="27" name="security_r4_c3">
            <a:extLst xmlns:a="http://schemas.openxmlformats.org/drawingml/2006/main">
              <a:ext uri="{FF2B5EF4-FFF2-40B4-BE49-F238E27FC236}">
                <a16:creationId xmlns:a16="http://schemas.microsoft.com/office/drawing/2014/main" id="{3B2411AA-6909-4592-9284-E7B2A45B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33387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Source selection, conflict handling, stale-answer rate</a:t>
            </a:r>
          </a:p>
        </p:txBody>
      </p:sp>
      <p:sp>
        <p:nvSpPr>
          <p:cNvPr id="28" name="security_rule_4">
            <a:extLst xmlns:a="http://schemas.openxmlformats.org/drawingml/2006/main">
              <a:ext uri="{FF2B5EF4-FFF2-40B4-BE49-F238E27FC236}">
                <a16:creationId xmlns:a16="http://schemas.microsoft.com/office/drawing/2014/main" id="{ED5B031F-E19E-4139-BE3F-E2B7C413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security_bg_5">
            <a:extLst xmlns:a="http://schemas.openxmlformats.org/drawingml/2006/main">
              <a:ext uri="{FF2B5EF4-FFF2-40B4-BE49-F238E27FC236}">
                <a16:creationId xmlns:a16="http://schemas.microsoft.com/office/drawing/2014/main" id="{5C974EC7-4D3E-4B62-993C-D8144005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5F5F5"/>
            </a:solidFill>
            <a:prstDash val="solid"/>
          </a:ln>
        </p:spPr>
      </p:sp>
      <p:sp>
        <p:nvSpPr>
          <p:cNvPr id="30" name="security_r5_c1">
            <a:extLst xmlns:a="http://schemas.openxmlformats.org/drawingml/2006/main">
              <a:ext uri="{FF2B5EF4-FFF2-40B4-BE49-F238E27FC236}">
                <a16:creationId xmlns:a16="http://schemas.microsoft.com/office/drawing/2014/main" id="{5F7D9F49-1B56-4F61-A013-1D712F8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971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2929"/>
                </a:solidFill>
              </a:defRPr>
            </a:pPr>
            <a:r>
              <a:rPr sz="1350" b="1">
                <a:solidFill>
                  <a:srgbClr val="292929"/>
                </a:solidFill>
              </a:rPr>
              <a:t>Service failure</a:t>
            </a:r>
          </a:p>
        </p:txBody>
      </p:sp>
      <p:sp>
        <p:nvSpPr>
          <p:cNvPr id="31" name="security_r5_c2">
            <a:extLst xmlns:a="http://schemas.openxmlformats.org/drawingml/2006/main">
              <a:ext uri="{FF2B5EF4-FFF2-40B4-BE49-F238E27FC236}">
                <a16:creationId xmlns:a16="http://schemas.microsoft.com/office/drawing/2014/main" id="{65A2AED1-A96B-44CB-9CE1-470E7E6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057775"/>
            <a:ext cx="468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Break dependencies, slow tools, revoke permissions, and corrupt state</a:t>
            </a:r>
          </a:p>
        </p:txBody>
      </p:sp>
      <p:sp>
        <p:nvSpPr>
          <p:cNvPr id="32" name="security_r5_c3">
            <a:extLst xmlns:a="http://schemas.openxmlformats.org/drawingml/2006/main">
              <a:ext uri="{FF2B5EF4-FFF2-40B4-BE49-F238E27FC236}">
                <a16:creationId xmlns:a16="http://schemas.microsoft.com/office/drawing/2014/main" id="{40FEBD07-843A-4FCE-B17D-184AC92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57775"/>
            <a:ext cx="3933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Safe fallback, recovery time, duplicate-action prevention</a:t>
            </a:r>
          </a:p>
        </p:txBody>
      </p:sp>
      <p:sp>
        <p:nvSpPr>
          <p:cNvPr id="33" name="security_rule_5">
            <a:extLst xmlns:a="http://schemas.openxmlformats.org/drawingml/2006/main">
              <a:ext uri="{FF2B5EF4-FFF2-40B4-BE49-F238E27FC236}">
                <a16:creationId xmlns:a16="http://schemas.microsoft.com/office/drawing/2014/main" id="{0A6DCC6D-7AFF-4E53-9F0F-56B3B28B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4" name="security_takeaway">
            <a:extLst xmlns:a="http://schemas.openxmlformats.org/drawingml/2006/main">
              <a:ext uri="{FF2B5EF4-FFF2-40B4-BE49-F238E27FC236}">
                <a16:creationId xmlns:a16="http://schemas.microsoft.com/office/drawing/2014/main" id="{F8DFAB55-0571-4AA1-8864-4DF6E3B6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5" name="security_takeaway_text">
            <a:extLst xmlns:a="http://schemas.openxmlformats.org/drawingml/2006/main">
              <a:ext uri="{FF2B5EF4-FFF2-40B4-BE49-F238E27FC236}">
                <a16:creationId xmlns:a16="http://schemas.microsoft.com/office/drawing/2014/main" id="{2EB5DE78-216C-4870-9726-9FCA26A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Least privilege, confirmation for consequential actions, and safe fallback are product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079458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5E9A26F-0FB0-4E6C-AF05-F3C9B7C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FAIR WITH HARMFUL BIAS MANAGED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93730F-08E3-4E91-8085-BDBAAEFC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Fairness is a matched-outcome question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9FEC493-03ED-47D5-B403-173269E1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Compare equivalent banking situations and change only the characteristic under test.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979C78A-00AF-4586-9F96-B4573CAE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pair_heading">
            <a:extLst xmlns:a="http://schemas.openxmlformats.org/drawingml/2006/main">
              <a:ext uri="{FF2B5EF4-FFF2-40B4-BE49-F238E27FC236}">
                <a16:creationId xmlns:a16="http://schemas.microsoft.com/office/drawing/2014/main" id="{8F7BB3FB-C9BE-49DD-8AAF-8D646B19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Matched-pair design</a:t>
            </a:r>
          </a:p>
        </p:txBody>
      </p:sp>
      <p:sp>
        <p:nvSpPr>
          <p:cNvPr id="6" name="pair_shared">
            <a:extLst xmlns:a="http://schemas.openxmlformats.org/drawingml/2006/main">
              <a:ext uri="{FF2B5EF4-FFF2-40B4-BE49-F238E27FC236}">
                <a16:creationId xmlns:a16="http://schemas.microsoft.com/office/drawing/2014/main" id="{50D80072-A161-4FB3-91FC-C87667D9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pair_shared_text">
            <a:extLst xmlns:a="http://schemas.openxmlformats.org/drawingml/2006/main">
              <a:ext uri="{FF2B5EF4-FFF2-40B4-BE49-F238E27FC236}">
                <a16:creationId xmlns:a16="http://schemas.microsoft.com/office/drawing/2014/main" id="{1C33F1D0-5953-4989-874B-317C1FA7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Same intent + same account facts + same channel</a:t>
            </a:r>
          </a:p>
        </p:txBody>
      </p:sp>
      <p:sp>
        <p:nvSpPr>
          <p:cNvPr id="8" name="pair_line_left">
            <a:extLst xmlns:a="http://schemas.openxmlformats.org/drawingml/2006/main">
              <a:ext uri="{FF2B5EF4-FFF2-40B4-BE49-F238E27FC236}">
                <a16:creationId xmlns:a16="http://schemas.microsoft.com/office/drawing/2014/main" id="{1B86ADF4-BCE4-4330-8024-3299973A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pair_line_right">
            <a:extLst xmlns:a="http://schemas.openxmlformats.org/drawingml/2006/main">
              <a:ext uri="{FF2B5EF4-FFF2-40B4-BE49-F238E27FC236}">
                <a16:creationId xmlns:a16="http://schemas.microsoft.com/office/drawing/2014/main" id="{F9A24928-79F7-4D2C-B593-FD916DF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146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pair_a">
            <a:extLst xmlns:a="http://schemas.openxmlformats.org/drawingml/2006/main">
              <a:ext uri="{FF2B5EF4-FFF2-40B4-BE49-F238E27FC236}">
                <a16:creationId xmlns:a16="http://schemas.microsoft.com/office/drawing/2014/main" id="{2082037F-A0CF-4A0C-98D2-6EB6F19A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air_a_label">
            <a:extLst xmlns:a="http://schemas.openxmlformats.org/drawingml/2006/main">
              <a:ext uri="{FF2B5EF4-FFF2-40B4-BE49-F238E27FC236}">
                <a16:creationId xmlns:a16="http://schemas.microsoft.com/office/drawing/2014/main" id="{BDAF7E40-44F3-4D81-A4CA-D9004B33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Conversation A</a:t>
            </a:r>
          </a:p>
        </p:txBody>
      </p:sp>
      <p:sp>
        <p:nvSpPr>
          <p:cNvPr id="12" name="pair_a_body">
            <a:extLst xmlns:a="http://schemas.openxmlformats.org/drawingml/2006/main">
              <a:ext uri="{FF2B5EF4-FFF2-40B4-BE49-F238E27FC236}">
                <a16:creationId xmlns:a16="http://schemas.microsoft.com/office/drawing/2014/main" id="{B9C5A126-D369-49D9-B491-E3C4D5D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Reference language or attribute</a:t>
            </a:r>
          </a:p>
        </p:txBody>
      </p:sp>
      <p:sp>
        <p:nvSpPr>
          <p:cNvPr id="13" name="pair_b">
            <a:extLst xmlns:a="http://schemas.openxmlformats.org/drawingml/2006/main">
              <a:ext uri="{FF2B5EF4-FFF2-40B4-BE49-F238E27FC236}">
                <a16:creationId xmlns:a16="http://schemas.microsoft.com/office/drawing/2014/main" id="{F0EF9178-B51B-4249-B125-AD7BDAF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pair_b_label">
            <a:extLst xmlns:a="http://schemas.openxmlformats.org/drawingml/2006/main">
              <a:ext uri="{FF2B5EF4-FFF2-40B4-BE49-F238E27FC236}">
                <a16:creationId xmlns:a16="http://schemas.microsoft.com/office/drawing/2014/main" id="{4947A13E-23A9-4A70-9374-44ED575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Conversation B</a:t>
            </a:r>
          </a:p>
        </p:txBody>
      </p:sp>
      <p:sp>
        <p:nvSpPr>
          <p:cNvPr id="15" name="pair_b_body">
            <a:extLst xmlns:a="http://schemas.openxmlformats.org/drawingml/2006/main">
              <a:ext uri="{FF2B5EF4-FFF2-40B4-BE49-F238E27FC236}">
                <a16:creationId xmlns:a16="http://schemas.microsoft.com/office/drawing/2014/main" id="{6BD361B1-B8D8-4AE9-890B-807AD158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One controlled change</a:t>
            </a:r>
          </a:p>
        </p:txBody>
      </p:sp>
      <p:sp>
        <p:nvSpPr>
          <p:cNvPr id="16" name="pair_compare">
            <a:extLst xmlns:a="http://schemas.openxmlformats.org/drawingml/2006/main">
              <a:ext uri="{FF2B5EF4-FFF2-40B4-BE49-F238E27FC236}">
                <a16:creationId xmlns:a16="http://schemas.microsoft.com/office/drawing/2014/main" id="{A26C5A1B-EB80-4FE8-B818-4B120D85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Compare task success, refusal, escalation, latency, and treatment quality.</a:t>
            </a:r>
          </a:p>
        </p:txBody>
      </p:sp>
      <p:sp>
        <p:nvSpPr>
          <p:cNvPr id="17" name="fairness_steps_heading">
            <a:extLst xmlns:a="http://schemas.openxmlformats.org/drawingml/2006/main">
              <a:ext uri="{FF2B5EF4-FFF2-40B4-BE49-F238E27FC236}">
                <a16:creationId xmlns:a16="http://schemas.microsoft.com/office/drawing/2014/main" id="{129F7F1B-B8CC-46D4-B330-1944F04E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Measurement method</a:t>
            </a:r>
          </a:p>
        </p:txBody>
      </p:sp>
      <p:sp>
        <p:nvSpPr>
          <p:cNvPr id="18" name="fairness_steps_num_1">
            <a:extLst xmlns:a="http://schemas.openxmlformats.org/drawingml/2006/main">
              <a:ext uri="{FF2B5EF4-FFF2-40B4-BE49-F238E27FC236}">
                <a16:creationId xmlns:a16="http://schemas.microsoft.com/office/drawing/2014/main" id="{F274D064-C440-48B7-8339-C6D9BF8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9" name="fairness_steps_title_1">
            <a:extLst xmlns:a="http://schemas.openxmlformats.org/drawingml/2006/main">
              <a:ext uri="{FF2B5EF4-FFF2-40B4-BE49-F238E27FC236}">
                <a16:creationId xmlns:a16="http://schemas.microsoft.com/office/drawing/2014/main" id="{44A0111F-F2F5-4DD9-8F64-2BCD43B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99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Sample</a:t>
            </a:r>
          </a:p>
        </p:txBody>
      </p:sp>
      <p:sp>
        <p:nvSpPr>
          <p:cNvPr id="20" name="fairness_steps_body_1">
            <a:extLst xmlns:a="http://schemas.openxmlformats.org/drawingml/2006/main">
              <a:ext uri="{FF2B5EF4-FFF2-40B4-BE49-F238E27FC236}">
                <a16:creationId xmlns:a16="http://schemas.microsoft.com/office/drawing/2014/main" id="{8F4040B4-785B-46C3-ABA9-CE5E58C2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4991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Stratify by journey, risk tier, language, dialect, accessibility, and lawful cohort.</a:t>
            </a:r>
          </a:p>
        </p:txBody>
      </p:sp>
      <p:sp>
        <p:nvSpPr>
          <p:cNvPr id="21" name="fairness_steps_rule_1">
            <a:extLst xmlns:a="http://schemas.openxmlformats.org/drawingml/2006/main">
              <a:ext uri="{FF2B5EF4-FFF2-40B4-BE49-F238E27FC236}">
                <a16:creationId xmlns:a16="http://schemas.microsoft.com/office/drawing/2014/main" id="{C66F8335-73C6-4F8D-A11A-86CE7B8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76575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fairness_steps_num_2">
            <a:extLst xmlns:a="http://schemas.openxmlformats.org/drawingml/2006/main">
              <a:ext uri="{FF2B5EF4-FFF2-40B4-BE49-F238E27FC236}">
                <a16:creationId xmlns:a16="http://schemas.microsoft.com/office/drawing/2014/main" id="{9DDC14C3-7256-4EF3-80BF-D244D215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23" name="fairness_steps_title_2">
            <a:extLst xmlns:a="http://schemas.openxmlformats.org/drawingml/2006/main">
              <a:ext uri="{FF2B5EF4-FFF2-40B4-BE49-F238E27FC236}">
                <a16:creationId xmlns:a16="http://schemas.microsoft.com/office/drawing/2014/main" id="{AC919703-224C-4A1D-82B3-C2AF782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99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24" name="fairness_steps_body_2">
            <a:extLst xmlns:a="http://schemas.openxmlformats.org/drawingml/2006/main">
              <a:ext uri="{FF2B5EF4-FFF2-40B4-BE49-F238E27FC236}">
                <a16:creationId xmlns:a16="http://schemas.microsoft.com/office/drawing/2014/main" id="{82F04D16-2A1B-4ACF-981B-1FC9FE0D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0425"/>
            <a:ext cx="4991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Estimate outcome gaps and confidence intervals, not isolated examples.</a:t>
            </a:r>
          </a:p>
        </p:txBody>
      </p:sp>
      <p:sp>
        <p:nvSpPr>
          <p:cNvPr id="25" name="fairness_steps_rule_2">
            <a:extLst xmlns:a="http://schemas.openxmlformats.org/drawingml/2006/main">
              <a:ext uri="{FF2B5EF4-FFF2-40B4-BE49-F238E27FC236}">
                <a16:creationId xmlns:a16="http://schemas.microsoft.com/office/drawing/2014/main" id="{C97BEC92-1F67-4B05-AB83-B6140D7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fairness_steps_num_3">
            <a:extLst xmlns:a="http://schemas.openxmlformats.org/drawingml/2006/main">
              <a:ext uri="{FF2B5EF4-FFF2-40B4-BE49-F238E27FC236}">
                <a16:creationId xmlns:a16="http://schemas.microsoft.com/office/drawing/2014/main" id="{CCAD1D83-FB1D-48F0-93DD-D9D1BB28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7" name="fairness_steps_title_3">
            <a:extLst xmlns:a="http://schemas.openxmlformats.org/drawingml/2006/main">
              <a:ext uri="{FF2B5EF4-FFF2-40B4-BE49-F238E27FC236}">
                <a16:creationId xmlns:a16="http://schemas.microsoft.com/office/drawing/2014/main" id="{932AB3DF-8B33-4921-8743-AA42359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43350"/>
            <a:ext cx="499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Diagnose</a:t>
            </a:r>
          </a:p>
        </p:txBody>
      </p:sp>
      <p:sp>
        <p:nvSpPr>
          <p:cNvPr id="28" name="fairness_steps_body_3">
            <a:extLst xmlns:a="http://schemas.openxmlformats.org/drawingml/2006/main">
              <a:ext uri="{FF2B5EF4-FFF2-40B4-BE49-F238E27FC236}">
                <a16:creationId xmlns:a16="http://schemas.microsoft.com/office/drawing/2014/main" id="{99ED07B0-2FC5-4E10-9ACF-54F5ACC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991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Trace disparities to data, retrieval, policy rules, model behavior, or human handoff.</a:t>
            </a:r>
          </a:p>
        </p:txBody>
      </p:sp>
      <p:sp>
        <p:nvSpPr>
          <p:cNvPr id="29" name="fairness_steps_rule_3">
            <a:extLst xmlns:a="http://schemas.openxmlformats.org/drawingml/2006/main">
              <a:ext uri="{FF2B5EF4-FFF2-40B4-BE49-F238E27FC236}">
                <a16:creationId xmlns:a16="http://schemas.microsoft.com/office/drawing/2014/main" id="{634CB935-75E3-45D2-8859-42F0CFEE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fairness_steps_num_4">
            <a:extLst xmlns:a="http://schemas.openxmlformats.org/drawingml/2006/main">
              <a:ext uri="{FF2B5EF4-FFF2-40B4-BE49-F238E27FC236}">
                <a16:creationId xmlns:a16="http://schemas.microsoft.com/office/drawing/2014/main" id="{31768E2E-9A6A-4A8D-8DA0-669DBBD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31" name="fairness_steps_title_4">
            <a:extLst xmlns:a="http://schemas.openxmlformats.org/drawingml/2006/main">
              <a:ext uri="{FF2B5EF4-FFF2-40B4-BE49-F238E27FC236}">
                <a16:creationId xmlns:a16="http://schemas.microsoft.com/office/drawing/2014/main" id="{70B2CD98-5837-49EB-9883-B8A3EAF9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81550"/>
            <a:ext cx="499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Retest</a:t>
            </a:r>
          </a:p>
        </p:txBody>
      </p:sp>
      <p:sp>
        <p:nvSpPr>
          <p:cNvPr id="32" name="fairness_steps_body_4">
            <a:extLst xmlns:a="http://schemas.openxmlformats.org/drawingml/2006/main">
              <a:ext uri="{FF2B5EF4-FFF2-40B4-BE49-F238E27FC236}">
                <a16:creationId xmlns:a16="http://schemas.microsoft.com/office/drawing/2014/main" id="{A6DEB374-C277-4F47-A464-E8515F83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76825"/>
            <a:ext cx="4991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Approve remediation only after the gap closes without creating a new harm.</a:t>
            </a:r>
          </a:p>
        </p:txBody>
      </p:sp>
      <p:sp>
        <p:nvSpPr>
          <p:cNvPr id="33" name="fairness_owner">
            <a:extLst xmlns:a="http://schemas.openxmlformats.org/drawingml/2006/main">
              <a:ext uri="{FF2B5EF4-FFF2-40B4-BE49-F238E27FC236}">
                <a16:creationId xmlns:a16="http://schemas.microsoft.com/office/drawing/2014/main" id="{EE55F289-EA67-43AC-B216-DC5BA9FC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Owner: Responsible AI + Compliance | Release and quarterly review</a:t>
            </a:r>
          </a:p>
        </p:txBody>
      </p:sp>
    </p:spTree>
    <p:extLst>
      <p:ext uri="{BB962C8B-B14F-4D97-AF65-F5344CB8AC3E}">
        <p14:creationId xmlns:p14="http://schemas.microsoft.com/office/powerpoint/2010/main" val="890027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61644EB-B7B2-4F1C-B645-60136F5E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EXPLAINABLE, TRANSPARENT, AND HUMAN-CONTROLLED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8EB287-FEB2-42DD-AA1A-5DFE26C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Human control must work in the customer's moment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321D81D-36C2-4861-9B4F-A1F0AA9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Disclosure and escalation are useful only when customers can understand and act on them.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6EF3358-0096-4A6F-822E-0AD5A11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control_num_1">
            <a:extLst xmlns:a="http://schemas.openxmlformats.org/drawingml/2006/main">
              <a:ext uri="{FF2B5EF4-FFF2-40B4-BE49-F238E27FC236}">
                <a16:creationId xmlns:a16="http://schemas.microsoft.com/office/drawing/2014/main" id="{A9F16365-86C9-426D-B2C6-BDDD770F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81175"/>
            <a:ext cx="267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control_title_1">
            <a:extLst xmlns:a="http://schemas.openxmlformats.org/drawingml/2006/main">
              <a:ext uri="{FF2B5EF4-FFF2-40B4-BE49-F238E27FC236}">
                <a16:creationId xmlns:a16="http://schemas.microsoft.com/office/drawing/2014/main" id="{EA066245-D7D4-4E9F-8D49-153C1EB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Disclose AI</a:t>
            </a:r>
          </a:p>
        </p:txBody>
      </p:sp>
      <p:sp>
        <p:nvSpPr>
          <p:cNvPr id="7" name="control_rule_1">
            <a:extLst xmlns:a="http://schemas.openxmlformats.org/drawingml/2006/main">
              <a:ext uri="{FF2B5EF4-FFF2-40B4-BE49-F238E27FC236}">
                <a16:creationId xmlns:a16="http://schemas.microsoft.com/office/drawing/2014/main" id="{B895CDBD-D913-4C3A-B133-20BB7FB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ntrol_test_label_1">
            <a:extLst xmlns:a="http://schemas.openxmlformats.org/drawingml/2006/main">
              <a:ext uri="{FF2B5EF4-FFF2-40B4-BE49-F238E27FC236}">
                <a16:creationId xmlns:a16="http://schemas.microsoft.com/office/drawing/2014/main" id="{1A958715-14C5-4A58-A426-1F243CA6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TEST</a:t>
            </a:r>
          </a:p>
        </p:txBody>
      </p:sp>
      <p:sp>
        <p:nvSpPr>
          <p:cNvPr id="9" name="control_test_1">
            <a:extLst xmlns:a="http://schemas.openxmlformats.org/drawingml/2006/main">
              <a:ext uri="{FF2B5EF4-FFF2-40B4-BE49-F238E27FC236}">
                <a16:creationId xmlns:a16="http://schemas.microsoft.com/office/drawing/2014/main" id="{F1B3509F-5F86-4D3A-BAC7-B9F2031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676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Customer recognizes the assistant and its limits</a:t>
            </a:r>
          </a:p>
        </p:txBody>
      </p:sp>
      <p:sp>
        <p:nvSpPr>
          <p:cNvPr id="10" name="control_measure_label_1">
            <a:extLst xmlns:a="http://schemas.openxmlformats.org/drawingml/2006/main">
              <a:ext uri="{FF2B5EF4-FFF2-40B4-BE49-F238E27FC236}">
                <a16:creationId xmlns:a16="http://schemas.microsoft.com/office/drawing/2014/main" id="{2DAA7BA1-53E0-400C-B665-84E98EA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MEASURE</a:t>
            </a:r>
          </a:p>
        </p:txBody>
      </p:sp>
      <p:sp>
        <p:nvSpPr>
          <p:cNvPr id="11" name="control_measure_1">
            <a:extLst xmlns:a="http://schemas.openxmlformats.org/drawingml/2006/main">
              <a:ext uri="{FF2B5EF4-FFF2-40B4-BE49-F238E27FC236}">
                <a16:creationId xmlns:a16="http://schemas.microsoft.com/office/drawing/2014/main" id="{9149D24E-737C-496F-AC67-7DB6D6B8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2676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Disclosure comprehension</a:t>
            </a:r>
          </a:p>
        </p:txBody>
      </p:sp>
      <p:sp>
        <p:nvSpPr>
          <p:cNvPr id="12" name="control_num_2">
            <a:extLst xmlns:a="http://schemas.openxmlformats.org/drawingml/2006/main">
              <a:ext uri="{FF2B5EF4-FFF2-40B4-BE49-F238E27FC236}">
                <a16:creationId xmlns:a16="http://schemas.microsoft.com/office/drawing/2014/main" id="{91E92CC1-0CDD-41D5-9B10-990BA657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81175"/>
            <a:ext cx="267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3" name="control_title_2">
            <a:extLst xmlns:a="http://schemas.openxmlformats.org/drawingml/2006/main">
              <a:ext uri="{FF2B5EF4-FFF2-40B4-BE49-F238E27FC236}">
                <a16:creationId xmlns:a16="http://schemas.microsoft.com/office/drawing/2014/main" id="{4D0383E6-7A08-4915-AFA5-4D08CD8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1455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Ground answer</a:t>
            </a:r>
          </a:p>
        </p:txBody>
      </p:sp>
      <p:sp>
        <p:nvSpPr>
          <p:cNvPr id="14" name="control_rule_2">
            <a:extLst xmlns:a="http://schemas.openxmlformats.org/drawingml/2006/main">
              <a:ext uri="{FF2B5EF4-FFF2-40B4-BE49-F238E27FC236}">
                <a16:creationId xmlns:a16="http://schemas.microsoft.com/office/drawing/2014/main" id="{73BFA8BF-F2C6-468E-A1CE-3FDD445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71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control_test_label_2">
            <a:extLst xmlns:a="http://schemas.openxmlformats.org/drawingml/2006/main">
              <a:ext uri="{FF2B5EF4-FFF2-40B4-BE49-F238E27FC236}">
                <a16:creationId xmlns:a16="http://schemas.microsoft.com/office/drawing/2014/main" id="{98FA0E83-37ED-4205-8B50-D0203B8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099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TEST</a:t>
            </a:r>
          </a:p>
        </p:txBody>
      </p:sp>
      <p:sp>
        <p:nvSpPr>
          <p:cNvPr id="16" name="control_test_2">
            <a:extLst xmlns:a="http://schemas.openxmlformats.org/drawingml/2006/main">
              <a:ext uri="{FF2B5EF4-FFF2-40B4-BE49-F238E27FC236}">
                <a16:creationId xmlns:a16="http://schemas.microsoft.com/office/drawing/2014/main" id="{6D83A0D7-9312-4986-BC6E-6E60C7EF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76600"/>
            <a:ext cx="2676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Approved source is shown and supports the claim</a:t>
            </a:r>
          </a:p>
        </p:txBody>
      </p:sp>
      <p:sp>
        <p:nvSpPr>
          <p:cNvPr id="17" name="control_measure_label_2">
            <a:extLst xmlns:a="http://schemas.openxmlformats.org/drawingml/2006/main">
              <a:ext uri="{FF2B5EF4-FFF2-40B4-BE49-F238E27FC236}">
                <a16:creationId xmlns:a16="http://schemas.microsoft.com/office/drawing/2014/main" id="{9C87D5A4-DD30-4AE1-B792-A1C7B0C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862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MEASURE</a:t>
            </a:r>
          </a:p>
        </p:txBody>
      </p:sp>
      <p:sp>
        <p:nvSpPr>
          <p:cNvPr id="18" name="control_measure_2">
            <a:extLst xmlns:a="http://schemas.openxmlformats.org/drawingml/2006/main">
              <a:ext uri="{FF2B5EF4-FFF2-40B4-BE49-F238E27FC236}">
                <a16:creationId xmlns:a16="http://schemas.microsoft.com/office/drawing/2014/main" id="{12F5DCAD-66A8-4636-9CD4-0AA9F50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52950"/>
            <a:ext cx="2676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Source match and freshness</a:t>
            </a:r>
          </a:p>
        </p:txBody>
      </p:sp>
      <p:sp>
        <p:nvSpPr>
          <p:cNvPr id="19" name="control_num_3">
            <a:extLst xmlns:a="http://schemas.openxmlformats.org/drawingml/2006/main">
              <a:ext uri="{FF2B5EF4-FFF2-40B4-BE49-F238E27FC236}">
                <a16:creationId xmlns:a16="http://schemas.microsoft.com/office/drawing/2014/main" id="{F57E868B-2515-4C4D-A4ED-629A64E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267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0" name="control_title_3">
            <a:extLst xmlns:a="http://schemas.openxmlformats.org/drawingml/2006/main">
              <a:ext uri="{FF2B5EF4-FFF2-40B4-BE49-F238E27FC236}">
                <a16:creationId xmlns:a16="http://schemas.microsoft.com/office/drawing/2014/main" id="{78883909-75CA-40EA-A184-0DD4717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Explain outcome</a:t>
            </a:r>
          </a:p>
        </p:txBody>
      </p:sp>
      <p:sp>
        <p:nvSpPr>
          <p:cNvPr id="21" name="control_rule_3">
            <a:extLst xmlns:a="http://schemas.openxmlformats.org/drawingml/2006/main">
              <a:ext uri="{FF2B5EF4-FFF2-40B4-BE49-F238E27FC236}">
                <a16:creationId xmlns:a16="http://schemas.microsoft.com/office/drawing/2014/main" id="{14AA84E9-EC0E-4340-BAB4-032F79BE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71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control_test_label_3">
            <a:extLst xmlns:a="http://schemas.openxmlformats.org/drawingml/2006/main">
              <a:ext uri="{FF2B5EF4-FFF2-40B4-BE49-F238E27FC236}">
                <a16:creationId xmlns:a16="http://schemas.microsoft.com/office/drawing/2014/main" id="{8B7F76FC-6CFE-49F2-B345-C9AD51A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TEST</a:t>
            </a:r>
          </a:p>
        </p:txBody>
      </p:sp>
      <p:sp>
        <p:nvSpPr>
          <p:cNvPr id="23" name="control_test_3">
            <a:extLst xmlns:a="http://schemas.openxmlformats.org/drawingml/2006/main">
              <a:ext uri="{FF2B5EF4-FFF2-40B4-BE49-F238E27FC236}">
                <a16:creationId xmlns:a16="http://schemas.microsoft.com/office/drawing/2014/main" id="{6B37DFA9-B7BE-4E97-BFA6-1B67B062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676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Reason reflects the factors actually used</a:t>
            </a:r>
          </a:p>
        </p:txBody>
      </p:sp>
      <p:sp>
        <p:nvSpPr>
          <p:cNvPr id="24" name="control_measure_label_3">
            <a:extLst xmlns:a="http://schemas.openxmlformats.org/drawingml/2006/main">
              <a:ext uri="{FF2B5EF4-FFF2-40B4-BE49-F238E27FC236}">
                <a16:creationId xmlns:a16="http://schemas.microsoft.com/office/drawing/2014/main" id="{9998A868-CE23-4B49-A073-F785775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MEASURE</a:t>
            </a:r>
          </a:p>
        </p:txBody>
      </p:sp>
      <p:sp>
        <p:nvSpPr>
          <p:cNvPr id="25" name="control_measure_3">
            <a:extLst xmlns:a="http://schemas.openxmlformats.org/drawingml/2006/main">
              <a:ext uri="{FF2B5EF4-FFF2-40B4-BE49-F238E27FC236}">
                <a16:creationId xmlns:a16="http://schemas.microsoft.com/office/drawing/2014/main" id="{F64F18AF-3D06-40D2-8CD0-A21FCE25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2676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Reason faithfulness</a:t>
            </a:r>
          </a:p>
        </p:txBody>
      </p:sp>
      <p:sp>
        <p:nvSpPr>
          <p:cNvPr id="26" name="control_num_4">
            <a:extLst xmlns:a="http://schemas.openxmlformats.org/drawingml/2006/main">
              <a:ext uri="{FF2B5EF4-FFF2-40B4-BE49-F238E27FC236}">
                <a16:creationId xmlns:a16="http://schemas.microsoft.com/office/drawing/2014/main" id="{79B814C4-EEF4-44BA-8D69-17DC1BBF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81175"/>
            <a:ext cx="2676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7" name="control_title_4">
            <a:extLst xmlns:a="http://schemas.openxmlformats.org/drawingml/2006/main">
              <a:ext uri="{FF2B5EF4-FFF2-40B4-BE49-F238E27FC236}">
                <a16:creationId xmlns:a16="http://schemas.microsoft.com/office/drawing/2014/main" id="{6121E749-B332-4931-87DF-5E493F5A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1455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Human handoff</a:t>
            </a:r>
          </a:p>
        </p:txBody>
      </p:sp>
      <p:sp>
        <p:nvSpPr>
          <p:cNvPr id="28" name="control_rule_4">
            <a:extLst xmlns:a="http://schemas.openxmlformats.org/drawingml/2006/main">
              <a:ext uri="{FF2B5EF4-FFF2-40B4-BE49-F238E27FC236}">
                <a16:creationId xmlns:a16="http://schemas.microsoft.com/office/drawing/2014/main" id="{BC4C6D80-1666-48F7-A3E5-D4588C6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71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9" name="control_test_label_4">
            <a:extLst xmlns:a="http://schemas.openxmlformats.org/drawingml/2006/main">
              <a:ext uri="{FF2B5EF4-FFF2-40B4-BE49-F238E27FC236}">
                <a16:creationId xmlns:a16="http://schemas.microsoft.com/office/drawing/2014/main" id="{02467C55-92BD-4CC6-8590-88A1E55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099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TEST</a:t>
            </a:r>
          </a:p>
        </p:txBody>
      </p:sp>
      <p:sp>
        <p:nvSpPr>
          <p:cNvPr id="30" name="control_test_4">
            <a:extLst xmlns:a="http://schemas.openxmlformats.org/drawingml/2006/main">
              <a:ext uri="{FF2B5EF4-FFF2-40B4-BE49-F238E27FC236}">
                <a16:creationId xmlns:a16="http://schemas.microsoft.com/office/drawing/2014/main" id="{BE92AA8A-19DA-41BD-AD97-F1D0EDB9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76600"/>
            <a:ext cx="2676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Customer reaches a person without repeating the journey</a:t>
            </a:r>
          </a:p>
        </p:txBody>
      </p:sp>
      <p:sp>
        <p:nvSpPr>
          <p:cNvPr id="31" name="control_measure_label_4">
            <a:extLst xmlns:a="http://schemas.openxmlformats.org/drawingml/2006/main">
              <a:ext uri="{FF2B5EF4-FFF2-40B4-BE49-F238E27FC236}">
                <a16:creationId xmlns:a16="http://schemas.microsoft.com/office/drawing/2014/main" id="{86B21D71-E856-43D4-AD7F-EB95B836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862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MEASURE</a:t>
            </a:r>
          </a:p>
        </p:txBody>
      </p:sp>
      <p:sp>
        <p:nvSpPr>
          <p:cNvPr id="32" name="control_measure_4">
            <a:extLst xmlns:a="http://schemas.openxmlformats.org/drawingml/2006/main">
              <a:ext uri="{FF2B5EF4-FFF2-40B4-BE49-F238E27FC236}">
                <a16:creationId xmlns:a16="http://schemas.microsoft.com/office/drawing/2014/main" id="{B6F80396-74C7-457F-B75F-0E6991FC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52950"/>
            <a:ext cx="2676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Handoff and complaint success</a:t>
            </a:r>
          </a:p>
        </p:txBody>
      </p:sp>
      <p:sp>
        <p:nvSpPr>
          <p:cNvPr id="33" name="control_takeaway">
            <a:extLst xmlns:a="http://schemas.openxmlformats.org/drawingml/2006/main">
              <a:ext uri="{FF2B5EF4-FFF2-40B4-BE49-F238E27FC236}">
                <a16:creationId xmlns:a16="http://schemas.microsoft.com/office/drawing/2014/main" id="{1249227E-68CB-4FF7-BE47-DEBD764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4" name="control_takeaway_text">
            <a:extLst xmlns:a="http://schemas.openxmlformats.org/drawingml/2006/main">
              <a:ext uri="{FF2B5EF4-FFF2-40B4-BE49-F238E27FC236}">
                <a16:creationId xmlns:a16="http://schemas.microsoft.com/office/drawing/2014/main" id="{EF59CAB2-0ED0-4DAD-B1C2-A654CA35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911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Where a virtual assistant communicates a regulated decision, the reason must match the actual decision factors and applicable law.</a:t>
            </a:r>
          </a:p>
        </p:txBody>
      </p:sp>
    </p:spTree>
    <p:extLst>
      <p:ext uri="{BB962C8B-B14F-4D97-AF65-F5344CB8AC3E}">
        <p14:creationId xmlns:p14="http://schemas.microsoft.com/office/powerpoint/2010/main" val="1753316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E0BA845-9876-4D99-A3F4-0F2021D5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ACCOUNTABLE RELEASE GOVERNANCE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879F7A-09A6-465D-BDB8-EFF960B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Release decisions need explicit gates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5629527-65FD-4BA2-890E-82C298E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An average score cannot override a failed critical control.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8C79FE3-7231-4106-BCB7-A31EDEF7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5" name="no_gate_panel">
            <a:extLst xmlns:a="http://schemas.openxmlformats.org/drawingml/2006/main">
              <a:ext uri="{FF2B5EF4-FFF2-40B4-BE49-F238E27FC236}">
                <a16:creationId xmlns:a16="http://schemas.microsoft.com/office/drawing/2014/main" id="{30CEB71A-5554-4ACE-8FCB-24E732CE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333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no_gate_small">
            <a:extLst xmlns:a="http://schemas.openxmlformats.org/drawingml/2006/main">
              <a:ext uri="{FF2B5EF4-FFF2-40B4-BE49-F238E27FC236}">
                <a16:creationId xmlns:a16="http://schemas.microsoft.com/office/drawing/2014/main" id="{35C93AF6-270B-4C38-BCF9-C99972D5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DECISION RULE</a:t>
            </a:r>
          </a:p>
        </p:txBody>
      </p:sp>
      <p:sp>
        <p:nvSpPr>
          <p:cNvPr id="7" name="no_gate">
            <a:extLst xmlns:a="http://schemas.openxmlformats.org/drawingml/2006/main">
              <a:ext uri="{FF2B5EF4-FFF2-40B4-BE49-F238E27FC236}">
                <a16:creationId xmlns:a16="http://schemas.microsoft.com/office/drawing/2014/main" id="{08407AFE-E5FC-41A3-9DEC-D2709982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800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NO GATE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NO RELEASE</a:t>
            </a:r>
          </a:p>
        </p:txBody>
      </p:sp>
      <p:sp>
        <p:nvSpPr>
          <p:cNvPr id="8" name="no_gate_body">
            <a:extLst xmlns:a="http://schemas.openxmlformats.org/drawingml/2006/main">
              <a:ext uri="{FF2B5EF4-FFF2-40B4-BE49-F238E27FC236}">
                <a16:creationId xmlns:a16="http://schemas.microsoft.com/office/drawing/2014/main" id="{03CD0934-7BE8-4EA7-AD79-5964BABB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Risk appetite sets performance thresholds. Critical controls remain mandatory.</a:t>
            </a:r>
          </a:p>
        </p:txBody>
      </p:sp>
      <p:sp>
        <p:nvSpPr>
          <p:cNvPr id="9" name="gate_num_1">
            <a:extLst xmlns:a="http://schemas.openxmlformats.org/drawingml/2006/main">
              <a:ext uri="{FF2B5EF4-FFF2-40B4-BE49-F238E27FC236}">
                <a16:creationId xmlns:a16="http://schemas.microsoft.com/office/drawing/2014/main" id="{92FE486B-0579-45FF-A312-34F02A4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0" name="gate_label_1">
            <a:extLst xmlns:a="http://schemas.openxmlformats.org/drawingml/2006/main">
              <a:ext uri="{FF2B5EF4-FFF2-40B4-BE49-F238E27FC236}">
                <a16:creationId xmlns:a16="http://schemas.microsoft.com/office/drawing/2014/main" id="{B0E64102-F319-427F-9FEC-A6C9027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Critical harms</a:t>
            </a:r>
          </a:p>
        </p:txBody>
      </p:sp>
      <p:sp>
        <p:nvSpPr>
          <p:cNvPr id="11" name="gate_body_1">
            <a:extLst xmlns:a="http://schemas.openxmlformats.org/drawingml/2006/main">
              <a:ext uri="{FF2B5EF4-FFF2-40B4-BE49-F238E27FC236}">
                <a16:creationId xmlns:a16="http://schemas.microsoft.com/office/drawing/2014/main" id="{9D18744E-1173-47A5-854E-6FE498F3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No unresolved critical safety, conduct, security, privacy, or action failure</a:t>
            </a:r>
          </a:p>
        </p:txBody>
      </p:sp>
      <p:sp>
        <p:nvSpPr>
          <p:cNvPr id="12" name="gate_rule_1">
            <a:extLst xmlns:a="http://schemas.openxmlformats.org/drawingml/2006/main">
              <a:ext uri="{FF2B5EF4-FFF2-40B4-BE49-F238E27FC236}">
                <a16:creationId xmlns:a16="http://schemas.microsoft.com/office/drawing/2014/main" id="{A8F550EF-2141-4335-9829-C5522721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3842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gate_num_2">
            <a:extLst xmlns:a="http://schemas.openxmlformats.org/drawingml/2006/main">
              <a:ext uri="{FF2B5EF4-FFF2-40B4-BE49-F238E27FC236}">
                <a16:creationId xmlns:a16="http://schemas.microsoft.com/office/drawing/2014/main" id="{791FFC7A-F254-4D72-8B77-7C17E04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4" name="gate_label_2">
            <a:extLst xmlns:a="http://schemas.openxmlformats.org/drawingml/2006/main">
              <a:ext uri="{FF2B5EF4-FFF2-40B4-BE49-F238E27FC236}">
                <a16:creationId xmlns:a16="http://schemas.microsoft.com/office/drawing/2014/main" id="{F81B0DC7-0ABD-4408-8292-5BA297F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Evidence complete</a:t>
            </a:r>
          </a:p>
        </p:txBody>
      </p:sp>
      <p:sp>
        <p:nvSpPr>
          <p:cNvPr id="15" name="gate_body_2">
            <a:extLst xmlns:a="http://schemas.openxmlformats.org/drawingml/2006/main">
              <a:ext uri="{FF2B5EF4-FFF2-40B4-BE49-F238E27FC236}">
                <a16:creationId xmlns:a16="http://schemas.microsoft.com/office/drawing/2014/main" id="{04EF3331-2A4F-4A1C-9BBD-3C89A008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Required cohorts, adversarial cases, source checks, and trace logs are present</a:t>
            </a:r>
          </a:p>
        </p:txBody>
      </p:sp>
      <p:sp>
        <p:nvSpPr>
          <p:cNvPr id="16" name="gate_rule_2">
            <a:extLst xmlns:a="http://schemas.openxmlformats.org/drawingml/2006/main">
              <a:ext uri="{FF2B5EF4-FFF2-40B4-BE49-F238E27FC236}">
                <a16:creationId xmlns:a16="http://schemas.microsoft.com/office/drawing/2014/main" id="{C0863B93-C0E8-4731-BC60-FE5BDBD2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2902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gate_num_3">
            <a:extLst xmlns:a="http://schemas.openxmlformats.org/drawingml/2006/main">
              <a:ext uri="{FF2B5EF4-FFF2-40B4-BE49-F238E27FC236}">
                <a16:creationId xmlns:a16="http://schemas.microsoft.com/office/drawing/2014/main" id="{F92CD6CD-8D7C-4427-8575-1BB70F14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8" name="gate_label_3">
            <a:extLst xmlns:a="http://schemas.openxmlformats.org/drawingml/2006/main">
              <a:ext uri="{FF2B5EF4-FFF2-40B4-BE49-F238E27FC236}">
                <a16:creationId xmlns:a16="http://schemas.microsoft.com/office/drawing/2014/main" id="{8447DDE2-1B3F-49B6-819B-3F1588D9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Independent challenge</a:t>
            </a:r>
          </a:p>
        </p:txBody>
      </p:sp>
      <p:sp>
        <p:nvSpPr>
          <p:cNvPr id="19" name="gate_body_3">
            <a:extLst xmlns:a="http://schemas.openxmlformats.org/drawingml/2006/main">
              <a:ext uri="{FF2B5EF4-FFF2-40B4-BE49-F238E27FC236}">
                <a16:creationId xmlns:a16="http://schemas.microsoft.com/office/drawing/2014/main" id="{50B3D2F9-05C8-4AC3-A4A7-578185C7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909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Validation is performed by reviewers outside the delivery team</a:t>
            </a:r>
          </a:p>
        </p:txBody>
      </p:sp>
      <p:sp>
        <p:nvSpPr>
          <p:cNvPr id="20" name="gate_rule_3">
            <a:extLst xmlns:a="http://schemas.openxmlformats.org/drawingml/2006/main">
              <a:ext uri="{FF2B5EF4-FFF2-40B4-BE49-F238E27FC236}">
                <a16:creationId xmlns:a16="http://schemas.microsoft.com/office/drawing/2014/main" id="{E5D8741E-F5AD-4652-B3F1-955A084E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gate_num_4">
            <a:extLst xmlns:a="http://schemas.openxmlformats.org/drawingml/2006/main">
              <a:ext uri="{FF2B5EF4-FFF2-40B4-BE49-F238E27FC236}">
                <a16:creationId xmlns:a16="http://schemas.microsoft.com/office/drawing/2014/main" id="{1E55C703-FBF9-468F-9D18-F672394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2" name="gate_label_4">
            <a:extLst xmlns:a="http://schemas.openxmlformats.org/drawingml/2006/main">
              <a:ext uri="{FF2B5EF4-FFF2-40B4-BE49-F238E27FC236}">
                <a16:creationId xmlns:a16="http://schemas.microsoft.com/office/drawing/2014/main" id="{F72D4BD3-6A92-4608-80A8-CAC6C11E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Operations ready</a:t>
            </a:r>
          </a:p>
        </p:txBody>
      </p:sp>
      <p:sp>
        <p:nvSpPr>
          <p:cNvPr id="23" name="gate_body_4">
            <a:extLst xmlns:a="http://schemas.openxmlformats.org/drawingml/2006/main">
              <a:ext uri="{FF2B5EF4-FFF2-40B4-BE49-F238E27FC236}">
                <a16:creationId xmlns:a16="http://schemas.microsoft.com/office/drawing/2014/main" id="{8B5F9FA6-830C-46AC-9820-737DD9C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81550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Alerts, fallback, rollback, incident owners, and customer recovery are tested</a:t>
            </a:r>
          </a:p>
        </p:txBody>
      </p:sp>
      <p:sp>
        <p:nvSpPr>
          <p:cNvPr id="24" name="gate_owner">
            <a:extLst xmlns:a="http://schemas.openxmlformats.org/drawingml/2006/main">
              <a:ext uri="{FF2B5EF4-FFF2-40B4-BE49-F238E27FC236}">
                <a16:creationId xmlns:a16="http://schemas.microsoft.com/office/drawing/2014/main" id="{0FBA9631-A88E-4EF6-BC23-B0882E07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750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Decision owner: Business owner + independent validation + control functions</a:t>
            </a:r>
          </a:p>
        </p:txBody>
      </p:sp>
    </p:spTree>
    <p:extLst>
      <p:ext uri="{BB962C8B-B14F-4D97-AF65-F5344CB8AC3E}">
        <p14:creationId xmlns:p14="http://schemas.microsoft.com/office/powerpoint/2010/main" val="188712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AF3CC6-1DB5-425A-A984-1806CAA9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ONGOING MONITORING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A09703-60CB-43F6-982C-0C707188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Monitoring turns incidents into better tests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948D95-C70F-47FC-B14C-FC120E9F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Production evidence must update the test set, controls, and release decision.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88EAEEF-2C25-4E81-989A-61C212DE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monitor_title_1">
            <a:extLst xmlns:a="http://schemas.openxmlformats.org/drawingml/2006/main">
              <a:ext uri="{FF2B5EF4-FFF2-40B4-BE49-F238E27FC236}">
                <a16:creationId xmlns:a16="http://schemas.microsoft.com/office/drawing/2014/main" id="{9F451435-D618-4E34-98A7-44A09FF0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Customer outcome</a:t>
            </a:r>
          </a:p>
        </p:txBody>
      </p:sp>
      <p:sp>
        <p:nvSpPr>
          <p:cNvPr id="6" name="monitor_rule_1">
            <a:extLst xmlns:a="http://schemas.openxmlformats.org/drawingml/2006/main">
              <a:ext uri="{FF2B5EF4-FFF2-40B4-BE49-F238E27FC236}">
                <a16:creationId xmlns:a16="http://schemas.microsoft.com/office/drawing/2014/main" id="{E4D87F96-94FC-4C4F-8FDE-E0735112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monitor_body_1">
            <a:extLst xmlns:a="http://schemas.openxmlformats.org/drawingml/2006/main">
              <a:ext uri="{FF2B5EF4-FFF2-40B4-BE49-F238E27FC236}">
                <a16:creationId xmlns:a16="http://schemas.microsoft.com/office/drawing/2014/main" id="{F1310D8D-658C-4C5F-9D72-B46D8AA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676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Task completion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Repeat contact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Complaint and detriment</a:t>
            </a:r>
          </a:p>
        </p:txBody>
      </p:sp>
      <p:sp>
        <p:nvSpPr>
          <p:cNvPr id="8" name="monitor_title_2">
            <a:extLst xmlns:a="http://schemas.openxmlformats.org/drawingml/2006/main">
              <a:ext uri="{FF2B5EF4-FFF2-40B4-BE49-F238E27FC236}">
                <a16:creationId xmlns:a16="http://schemas.microsoft.com/office/drawing/2014/main" id="{B574C07E-F7D2-490F-BA3B-0DB6C661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5260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Trust and conduct</a:t>
            </a:r>
          </a:p>
        </p:txBody>
      </p:sp>
      <p:sp>
        <p:nvSpPr>
          <p:cNvPr id="9" name="monitor_rule_2">
            <a:extLst xmlns:a="http://schemas.openxmlformats.org/drawingml/2006/main">
              <a:ext uri="{FF2B5EF4-FFF2-40B4-BE49-F238E27FC236}">
                <a16:creationId xmlns:a16="http://schemas.microsoft.com/office/drawing/2014/main" id="{7BEECD37-3FCB-46F0-9F78-FAD5C35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90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onitor_body_2">
            <a:extLst xmlns:a="http://schemas.openxmlformats.org/drawingml/2006/main">
              <a:ext uri="{FF2B5EF4-FFF2-40B4-BE49-F238E27FC236}">
                <a16:creationId xmlns:a16="http://schemas.microsoft.com/office/drawing/2014/main" id="{88292806-1FD2-45B8-9F43-3B22CD4C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09850"/>
            <a:ext cx="2676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Unsupported claim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Severe breach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Escalation success</a:t>
            </a:r>
          </a:p>
        </p:txBody>
      </p:sp>
      <p:sp>
        <p:nvSpPr>
          <p:cNvPr id="11" name="monitor_title_3">
            <a:extLst xmlns:a="http://schemas.openxmlformats.org/drawingml/2006/main">
              <a:ext uri="{FF2B5EF4-FFF2-40B4-BE49-F238E27FC236}">
                <a16:creationId xmlns:a16="http://schemas.microsoft.com/office/drawing/2014/main" id="{8418AB03-1EC1-48DA-815D-A071899B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Security and privacy</a:t>
            </a:r>
          </a:p>
        </p:txBody>
      </p:sp>
      <p:sp>
        <p:nvSpPr>
          <p:cNvPr id="12" name="monitor_rule_3">
            <a:extLst xmlns:a="http://schemas.openxmlformats.org/drawingml/2006/main">
              <a:ext uri="{FF2B5EF4-FFF2-40B4-BE49-F238E27FC236}">
                <a16:creationId xmlns:a16="http://schemas.microsoft.com/office/drawing/2014/main" id="{3C360FDE-FA87-479A-8803-7D2F31A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90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3" name="monitor_body_3">
            <a:extLst xmlns:a="http://schemas.openxmlformats.org/drawingml/2006/main">
              <a:ext uri="{FF2B5EF4-FFF2-40B4-BE49-F238E27FC236}">
                <a16:creationId xmlns:a16="http://schemas.microsoft.com/office/drawing/2014/main" id="{FBEE7971-3F05-440C-9BE1-E3F71832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2676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Attack attempt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Leak or access breach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Tool misuse</a:t>
            </a:r>
          </a:p>
        </p:txBody>
      </p:sp>
      <p:sp>
        <p:nvSpPr>
          <p:cNvPr id="14" name="monitor_title_4">
            <a:extLst xmlns:a="http://schemas.openxmlformats.org/drawingml/2006/main">
              <a:ext uri="{FF2B5EF4-FFF2-40B4-BE49-F238E27FC236}">
                <a16:creationId xmlns:a16="http://schemas.microsoft.com/office/drawing/2014/main" id="{8B58642C-24BC-4C86-A4A3-64699F1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67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Operations</a:t>
            </a:r>
          </a:p>
        </p:txBody>
      </p:sp>
      <p:sp>
        <p:nvSpPr>
          <p:cNvPr id="15" name="monitor_rule_4">
            <a:extLst xmlns:a="http://schemas.openxmlformats.org/drawingml/2006/main">
              <a:ext uri="{FF2B5EF4-FFF2-40B4-BE49-F238E27FC236}">
                <a16:creationId xmlns:a16="http://schemas.microsoft.com/office/drawing/2014/main" id="{4327655A-C211-4430-8A26-E9F17F2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90775"/>
            <a:ext cx="2676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onitor_body_4">
            <a:extLst xmlns:a="http://schemas.openxmlformats.org/drawingml/2006/main">
              <a:ext uri="{FF2B5EF4-FFF2-40B4-BE49-F238E27FC236}">
                <a16:creationId xmlns:a16="http://schemas.microsoft.com/office/drawing/2014/main" id="{E5F2A664-27D9-47CE-86ED-A699F4FC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09850"/>
            <a:ext cx="2676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Latency and availability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Fallback success</a:t>
            </a:r>
          </a:p>
          <a:p xmlns:a="http://schemas.openxmlformats.org/drawingml/2006/main">
            <a:pPr algn="l">
              <a:defRPr sz="1500" b="0">
                <a:solidFill>
                  <a:srgbClr val="292929"/>
                </a:solidFill>
              </a:defRPr>
            </a:pPr>
            <a:r>
              <a:rPr sz="1500" b="0">
                <a:solidFill>
                  <a:srgbClr val="292929"/>
                </a:solidFill>
              </a:rPr>
              <a:t>Recovery time</a:t>
            </a:r>
          </a:p>
        </p:txBody>
      </p:sp>
      <p:sp>
        <p:nvSpPr>
          <p:cNvPr id="17" name="loop_heading">
            <a:extLst xmlns:a="http://schemas.openxmlformats.org/drawingml/2006/main">
              <a:ext uri="{FF2B5EF4-FFF2-40B4-BE49-F238E27FC236}">
                <a16:creationId xmlns:a16="http://schemas.microsoft.com/office/drawing/2014/main" id="{8C787B04-2565-417F-962F-172CBAF4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Incident learning loop</a:t>
            </a:r>
          </a:p>
        </p:txBody>
      </p:sp>
      <p:sp>
        <p:nvSpPr>
          <p:cNvPr id="18" name="loop_connector">
            <a:extLst xmlns:a="http://schemas.openxmlformats.org/drawingml/2006/main">
              <a:ext uri="{FF2B5EF4-FFF2-40B4-BE49-F238E27FC236}">
                <a16:creationId xmlns:a16="http://schemas.microsoft.com/office/drawing/2014/main" id="{51D01430-34BD-4E7C-8F00-5FB09C5C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86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loop_node_1">
            <a:extLst xmlns:a="http://schemas.openxmlformats.org/drawingml/2006/main">
              <a:ext uri="{FF2B5EF4-FFF2-40B4-BE49-F238E27FC236}">
                <a16:creationId xmlns:a16="http://schemas.microsoft.com/office/drawing/2014/main" id="{1216E22C-7D12-4DF3-9B3A-02F8711D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0" name="loop_node_num_1">
            <a:extLst xmlns:a="http://schemas.openxmlformats.org/drawingml/2006/main">
              <a:ext uri="{FF2B5EF4-FFF2-40B4-BE49-F238E27FC236}">
                <a16:creationId xmlns:a16="http://schemas.microsoft.com/office/drawing/2014/main" id="{42A3BDFE-9F91-481F-A916-B1F1117A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loop_label_1">
            <a:extLst xmlns:a="http://schemas.openxmlformats.org/drawingml/2006/main">
              <a:ext uri="{FF2B5EF4-FFF2-40B4-BE49-F238E27FC236}">
                <a16:creationId xmlns:a16="http://schemas.microsoft.com/office/drawing/2014/main" id="{2DB0FEAA-5149-4C61-B9AA-7A1327E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483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Detect</a:t>
            </a:r>
          </a:p>
        </p:txBody>
      </p:sp>
      <p:sp>
        <p:nvSpPr>
          <p:cNvPr id="22" name="loop_node_2">
            <a:extLst xmlns:a="http://schemas.openxmlformats.org/drawingml/2006/main">
              <a:ext uri="{FF2B5EF4-FFF2-40B4-BE49-F238E27FC236}">
                <a16:creationId xmlns:a16="http://schemas.microsoft.com/office/drawing/2014/main" id="{4FFE9931-2DD7-4112-B724-D0F9612B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48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loop_node_num_2">
            <a:extLst xmlns:a="http://schemas.openxmlformats.org/drawingml/2006/main">
              <a:ext uri="{FF2B5EF4-FFF2-40B4-BE49-F238E27FC236}">
                <a16:creationId xmlns:a16="http://schemas.microsoft.com/office/drawing/2014/main" id="{41E8F0DD-DEAA-415C-8FCE-CF2E2B42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52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loop_label_2">
            <a:extLst xmlns:a="http://schemas.openxmlformats.org/drawingml/2006/main">
              <a:ext uri="{FF2B5EF4-FFF2-40B4-BE49-F238E27FC236}">
                <a16:creationId xmlns:a16="http://schemas.microsoft.com/office/drawing/2014/main" id="{FE4159AB-7A24-4004-BC60-B5C39C8A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483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Triage</a:t>
            </a:r>
          </a:p>
        </p:txBody>
      </p:sp>
      <p:sp>
        <p:nvSpPr>
          <p:cNvPr id="25" name="loop_node_3">
            <a:extLst xmlns:a="http://schemas.openxmlformats.org/drawingml/2006/main">
              <a:ext uri="{FF2B5EF4-FFF2-40B4-BE49-F238E27FC236}">
                <a16:creationId xmlns:a16="http://schemas.microsoft.com/office/drawing/2014/main" id="{A3E1D6ED-597E-4D92-909F-7F8E480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48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6" name="loop_node_num_3">
            <a:extLst xmlns:a="http://schemas.openxmlformats.org/drawingml/2006/main">
              <a:ext uri="{FF2B5EF4-FFF2-40B4-BE49-F238E27FC236}">
                <a16:creationId xmlns:a16="http://schemas.microsoft.com/office/drawing/2014/main" id="{D73A3D77-2371-4092-9DEE-77FE0C9F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52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loop_label_3">
            <a:extLst xmlns:a="http://schemas.openxmlformats.org/drawingml/2006/main">
              <a:ext uri="{FF2B5EF4-FFF2-40B4-BE49-F238E27FC236}">
                <a16:creationId xmlns:a16="http://schemas.microsoft.com/office/drawing/2014/main" id="{A37D3157-26E4-4C34-8326-A754F33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4483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Contain</a:t>
            </a:r>
          </a:p>
        </p:txBody>
      </p:sp>
      <p:sp>
        <p:nvSpPr>
          <p:cNvPr id="28" name="loop_node_4">
            <a:extLst xmlns:a="http://schemas.openxmlformats.org/drawingml/2006/main">
              <a:ext uri="{FF2B5EF4-FFF2-40B4-BE49-F238E27FC236}">
                <a16:creationId xmlns:a16="http://schemas.microsoft.com/office/drawing/2014/main" id="{3904664F-0271-4FF3-8548-767B735B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loop_node_num_4">
            <a:extLst xmlns:a="http://schemas.openxmlformats.org/drawingml/2006/main">
              <a:ext uri="{FF2B5EF4-FFF2-40B4-BE49-F238E27FC236}">
                <a16:creationId xmlns:a16="http://schemas.microsoft.com/office/drawing/2014/main" id="{E570DB7A-578B-4D1D-9B76-96EC9B2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52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loop_label_4">
            <a:extLst xmlns:a="http://schemas.openxmlformats.org/drawingml/2006/main">
              <a:ext uri="{FF2B5EF4-FFF2-40B4-BE49-F238E27FC236}">
                <a16:creationId xmlns:a16="http://schemas.microsoft.com/office/drawing/2014/main" id="{FADE122B-D690-4176-8519-25638B23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4483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Add regression</a:t>
            </a:r>
          </a:p>
        </p:txBody>
      </p:sp>
      <p:sp>
        <p:nvSpPr>
          <p:cNvPr id="31" name="loop_node_5">
            <a:extLst xmlns:a="http://schemas.openxmlformats.org/drawingml/2006/main">
              <a:ext uri="{FF2B5EF4-FFF2-40B4-BE49-F238E27FC236}">
                <a16:creationId xmlns:a16="http://schemas.microsoft.com/office/drawing/2014/main" id="{E0C7495B-D277-424D-9B90-E5E4D001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648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2" name="loop_node_num_5">
            <a:extLst xmlns:a="http://schemas.openxmlformats.org/drawingml/2006/main">
              <a:ext uri="{FF2B5EF4-FFF2-40B4-BE49-F238E27FC236}">
                <a16:creationId xmlns:a16="http://schemas.microsoft.com/office/drawing/2014/main" id="{096DE4ED-0594-4A36-991F-5D22CDE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52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loop_label_5">
            <a:extLst xmlns:a="http://schemas.openxmlformats.org/drawingml/2006/main">
              <a:ext uri="{FF2B5EF4-FFF2-40B4-BE49-F238E27FC236}">
                <a16:creationId xmlns:a16="http://schemas.microsoft.com/office/drawing/2014/main" id="{B3A99E2F-8E7D-4519-821B-822BB779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4483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Approve change</a:t>
            </a:r>
          </a:p>
        </p:txBody>
      </p:sp>
      <p:sp>
        <p:nvSpPr>
          <p:cNvPr id="34" name="monitor_owner">
            <a:extLst xmlns:a="http://schemas.openxmlformats.org/drawingml/2006/main">
              <a:ext uri="{FF2B5EF4-FFF2-40B4-BE49-F238E27FC236}">
                <a16:creationId xmlns:a16="http://schemas.microsoft.com/office/drawing/2014/main" id="{E229D31C-F468-4DF6-9310-0C263A1A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Owner: Operations with control-function escalation | Continuous alerts, weekly review, periodic validation</a:t>
            </a:r>
          </a:p>
        </p:txBody>
      </p:sp>
    </p:spTree>
    <p:extLst>
      <p:ext uri="{BB962C8B-B14F-4D97-AF65-F5344CB8AC3E}">
        <p14:creationId xmlns:p14="http://schemas.microsoft.com/office/powerpoint/2010/main" val="1514536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1C6367B-EDFE-4356-A5EB-7E015E20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IMPLEMENTATION PATH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6678A7-FC9C-42FD-8E3D-AD4EFA1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Start bounded, then expand the evidence system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9A17EE-95AC-4638-AF70-FF3081B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Scale autonomy only after the measurement and recovery controls are reusable.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2D5E7B4-4281-4E60-98EE-868C0AD0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5" name="roadmap_line">
            <a:extLst xmlns:a="http://schemas.openxmlformats.org/drawingml/2006/main">
              <a:ext uri="{FF2B5EF4-FFF2-40B4-BE49-F238E27FC236}">
                <a16:creationId xmlns:a16="http://schemas.microsoft.com/office/drawing/2014/main" id="{C2FE1AF4-0C30-48BF-8CF6-BBADE9D3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phase_node_1">
            <a:extLst xmlns:a="http://schemas.openxmlformats.org/drawingml/2006/main">
              <a:ext uri="{FF2B5EF4-FFF2-40B4-BE49-F238E27FC236}">
                <a16:creationId xmlns:a16="http://schemas.microsoft.com/office/drawing/2014/main" id="{0763B2AE-9367-46DF-96B9-EDA3FD59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228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phase_num_1">
            <a:extLst xmlns:a="http://schemas.openxmlformats.org/drawingml/2006/main">
              <a:ext uri="{FF2B5EF4-FFF2-40B4-BE49-F238E27FC236}">
                <a16:creationId xmlns:a16="http://schemas.microsoft.com/office/drawing/2014/main" id="{857688A2-8FEA-43A6-9282-0D65170C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333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phase_title_1">
            <a:extLst xmlns:a="http://schemas.openxmlformats.org/drawingml/2006/main">
              <a:ext uri="{FF2B5EF4-FFF2-40B4-BE49-F238E27FC236}">
                <a16:creationId xmlns:a16="http://schemas.microsoft.com/office/drawing/2014/main" id="{453C67E7-7A1B-4A54-B468-7E8099E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Baseline one journey</a:t>
            </a:r>
          </a:p>
        </p:txBody>
      </p:sp>
      <p:sp>
        <p:nvSpPr>
          <p:cNvPr id="9" name="phase_body_1">
            <a:extLst xmlns:a="http://schemas.openxmlformats.org/drawingml/2006/main">
              <a:ext uri="{FF2B5EF4-FFF2-40B4-BE49-F238E27FC236}">
                <a16:creationId xmlns:a16="http://schemas.microsoft.com/office/drawing/2014/main" id="{86E350AF-8AE2-4079-80E4-C32AC8D8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Choose a bounded customer journey. Define risk tier, approved sources, harm taxonomy, owners, and golden set.</a:t>
            </a:r>
          </a:p>
        </p:txBody>
      </p:sp>
      <p:sp>
        <p:nvSpPr>
          <p:cNvPr id="10" name="phase_exit_rule_1">
            <a:extLst xmlns:a="http://schemas.openxmlformats.org/drawingml/2006/main">
              <a:ext uri="{FF2B5EF4-FFF2-40B4-BE49-F238E27FC236}">
                <a16:creationId xmlns:a16="http://schemas.microsoft.com/office/drawing/2014/main" id="{5C13F12A-07A9-42F2-A38D-E9DC57B5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phase_exit_1">
            <a:extLst xmlns:a="http://schemas.openxmlformats.org/drawingml/2006/main">
              <a:ext uri="{FF2B5EF4-FFF2-40B4-BE49-F238E27FC236}">
                <a16:creationId xmlns:a16="http://schemas.microsoft.com/office/drawing/2014/main" id="{01EAACB5-C5DB-4C1D-9175-E74778D2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312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Exit when independent validation confirms the evidence is complete.</a:t>
            </a:r>
          </a:p>
        </p:txBody>
      </p:sp>
      <p:sp>
        <p:nvSpPr>
          <p:cNvPr id="12" name="phase_node_2">
            <a:extLst xmlns:a="http://schemas.openxmlformats.org/drawingml/2006/main">
              <a:ext uri="{FF2B5EF4-FFF2-40B4-BE49-F238E27FC236}">
                <a16:creationId xmlns:a16="http://schemas.microsoft.com/office/drawing/2014/main" id="{3EA0B182-3DF2-47F0-AE1A-63D4ACD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228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phase_num_2">
            <a:extLst xmlns:a="http://schemas.openxmlformats.org/drawingml/2006/main">
              <a:ext uri="{FF2B5EF4-FFF2-40B4-BE49-F238E27FC236}">
                <a16:creationId xmlns:a16="http://schemas.microsoft.com/office/drawing/2014/main" id="{AD42823D-4580-4303-81EF-985209E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33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phase_title_2">
            <a:extLst xmlns:a="http://schemas.openxmlformats.org/drawingml/2006/main">
              <a:ext uri="{FF2B5EF4-FFF2-40B4-BE49-F238E27FC236}">
                <a16:creationId xmlns:a16="http://schemas.microsoft.com/office/drawing/2014/main" id="{471EB1F1-029A-4399-A0DC-71ACD4C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Run a controlled pilot</a:t>
            </a:r>
          </a:p>
        </p:txBody>
      </p:sp>
      <p:sp>
        <p:nvSpPr>
          <p:cNvPr id="15" name="phase_body_2">
            <a:extLst xmlns:a="http://schemas.openxmlformats.org/drawingml/2006/main">
              <a:ext uri="{FF2B5EF4-FFF2-40B4-BE49-F238E27FC236}">
                <a16:creationId xmlns:a16="http://schemas.microsoft.com/office/drawing/2014/main" id="{ED2BCA7E-4BAB-4C4A-B7B6-A36834C2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Limit users and consequences. Keep human fallback, live alerts, incident handling, and rollback active.</a:t>
            </a:r>
          </a:p>
        </p:txBody>
      </p:sp>
      <p:sp>
        <p:nvSpPr>
          <p:cNvPr id="16" name="phase_exit_rule_2">
            <a:extLst xmlns:a="http://schemas.openxmlformats.org/drawingml/2006/main">
              <a:ext uri="{FF2B5EF4-FFF2-40B4-BE49-F238E27FC236}">
                <a16:creationId xmlns:a16="http://schemas.microsoft.com/office/drawing/2014/main" id="{A8518CE9-6942-4E86-8BBD-06ACB8AE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phase_exit_2">
            <a:extLst xmlns:a="http://schemas.openxmlformats.org/drawingml/2006/main">
              <a:ext uri="{FF2B5EF4-FFF2-40B4-BE49-F238E27FC236}">
                <a16:creationId xmlns:a16="http://schemas.microsoft.com/office/drawing/2014/main" id="{D8F6611D-33AE-47EE-ABAE-EC838C0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00650"/>
            <a:ext cx="312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Exit when outcomes are stable and material incidents are resolved and retested.</a:t>
            </a:r>
          </a:p>
        </p:txBody>
      </p:sp>
      <p:sp>
        <p:nvSpPr>
          <p:cNvPr id="18" name="phase_node_3">
            <a:extLst xmlns:a="http://schemas.openxmlformats.org/drawingml/2006/main">
              <a:ext uri="{FF2B5EF4-FFF2-40B4-BE49-F238E27FC236}">
                <a16:creationId xmlns:a16="http://schemas.microsoft.com/office/drawing/2014/main" id="{9FFAD8BB-CFEF-4EB1-A02A-17D8345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phase_num_3">
            <a:extLst xmlns:a="http://schemas.openxmlformats.org/drawingml/2006/main">
              <a:ext uri="{FF2B5EF4-FFF2-40B4-BE49-F238E27FC236}">
                <a16:creationId xmlns:a16="http://schemas.microsoft.com/office/drawing/2014/main" id="{9BF12EB2-D3E8-411C-8A85-43AEC9A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33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phase_title_3">
            <a:extLst xmlns:a="http://schemas.openxmlformats.org/drawingml/2006/main">
              <a:ext uri="{FF2B5EF4-FFF2-40B4-BE49-F238E27FC236}">
                <a16:creationId xmlns:a16="http://schemas.microsoft.com/office/drawing/2014/main" id="{E5413842-074B-46C9-8559-A54325AF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Scale by risk tier</a:t>
            </a:r>
          </a:p>
        </p:txBody>
      </p:sp>
      <p:sp>
        <p:nvSpPr>
          <p:cNvPr id="21" name="phase_body_3">
            <a:extLst xmlns:a="http://schemas.openxmlformats.org/drawingml/2006/main">
              <a:ext uri="{FF2B5EF4-FFF2-40B4-BE49-F238E27FC236}">
                <a16:creationId xmlns:a16="http://schemas.microsoft.com/office/drawing/2014/main" id="{9904FEF5-A1DE-49C8-AF1B-B91075F9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Add languages, channels, tools, and journeys in order of consequence, reusing approved controls and tests.</a:t>
            </a:r>
          </a:p>
        </p:txBody>
      </p:sp>
      <p:sp>
        <p:nvSpPr>
          <p:cNvPr id="22" name="phase_exit_rule_3">
            <a:extLst xmlns:a="http://schemas.openxmlformats.org/drawingml/2006/main">
              <a:ext uri="{FF2B5EF4-FFF2-40B4-BE49-F238E27FC236}">
                <a16:creationId xmlns:a16="http://schemas.microsoft.com/office/drawing/2014/main" id="{BF19CDF9-4D3D-473B-9D6C-338B0FB5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3" name="phase_exit_3">
            <a:extLst xmlns:a="http://schemas.openxmlformats.org/drawingml/2006/main">
              <a:ext uri="{FF2B5EF4-FFF2-40B4-BE49-F238E27FC236}">
                <a16:creationId xmlns:a16="http://schemas.microsoft.com/office/drawing/2014/main" id="{75979817-E6CB-4A15-B379-E133FD25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00650"/>
            <a:ext cx="312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Exit when the evidence pack and monitoring loop operate consistently at the new scope.</a:t>
            </a:r>
          </a:p>
        </p:txBody>
      </p:sp>
      <p:sp>
        <p:nvSpPr>
          <p:cNvPr id="24" name="roadmap_takeaway">
            <a:extLst xmlns:a="http://schemas.openxmlformats.org/drawingml/2006/main">
              <a:ext uri="{FF2B5EF4-FFF2-40B4-BE49-F238E27FC236}">
                <a16:creationId xmlns:a16="http://schemas.microsoft.com/office/drawing/2014/main" id="{072B2406-F1AF-4BD3-AE64-12ADC06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391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roadmap_takeaway_text">
            <a:extLst xmlns:a="http://schemas.openxmlformats.org/drawingml/2006/main">
              <a:ext uri="{FF2B5EF4-FFF2-40B4-BE49-F238E27FC236}">
                <a16:creationId xmlns:a16="http://schemas.microsoft.com/office/drawing/2014/main" id="{291BC202-6544-433E-A33C-EDA7612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Scale the evidence system before scaling autonomy.</a:t>
            </a:r>
          </a:p>
        </p:txBody>
      </p:sp>
    </p:spTree>
    <p:extLst>
      <p:ext uri="{BB962C8B-B14F-4D97-AF65-F5344CB8AC3E}">
        <p14:creationId xmlns:p14="http://schemas.microsoft.com/office/powerpoint/2010/main" val="8304839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0F35161-6D70-4CB7-8342-37356E3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APPENDIX | SOURCE BASIS AND SCOPE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74B49F-C663-42F4-85BD-093DFB08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The framework uses three layers of guidance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46681F3-9F4D-44CB-875E-E0726CF6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AI risk management, banking controls, and GenAI application security inform different parts of the evidence system.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AA6613D-84EF-45F5-B017-A15AF2A4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source_left_title_1">
            <a:extLst xmlns:a="http://schemas.openxmlformats.org/drawingml/2006/main">
              <a:ext uri="{FF2B5EF4-FFF2-40B4-BE49-F238E27FC236}">
                <a16:creationId xmlns:a16="http://schemas.microsoft.com/office/drawing/2014/main" id="{B6085B4A-7CBC-4883-85F0-D7B4D8E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NIST AI RMF 1.0 and Core</a:t>
            </a:r>
          </a:p>
        </p:txBody>
      </p:sp>
      <p:sp>
        <p:nvSpPr>
          <p:cNvPr id="6" name="source_left_body_1">
            <a:extLst xmlns:a="http://schemas.openxmlformats.org/drawingml/2006/main">
              <a:ext uri="{FF2B5EF4-FFF2-40B4-BE49-F238E27FC236}">
                <a16:creationId xmlns:a16="http://schemas.microsoft.com/office/drawing/2014/main" id="{B7E8DA15-A560-4100-AABD-2F7FCE39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Trustworthiness characteristics and the Govern, Map, Measure, and Manage lifecycle.</a:t>
            </a:r>
          </a:p>
        </p:txBody>
      </p:sp>
      <p:sp>
        <p:nvSpPr>
          <p:cNvPr id="7" name="source_left_rule_1">
            <a:extLst xmlns:a="http://schemas.openxmlformats.org/drawingml/2006/main">
              <a:ext uri="{FF2B5EF4-FFF2-40B4-BE49-F238E27FC236}">
                <a16:creationId xmlns:a16="http://schemas.microsoft.com/office/drawing/2014/main" id="{7E6AA6D6-9E7E-4ED4-B7B7-205F683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ource_left_title_2">
            <a:extLst xmlns:a="http://schemas.openxmlformats.org/drawingml/2006/main">
              <a:ext uri="{FF2B5EF4-FFF2-40B4-BE49-F238E27FC236}">
                <a16:creationId xmlns:a16="http://schemas.microsoft.com/office/drawing/2014/main" id="{E8425A26-37DA-481B-AB99-10B43F4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NIST AI 600-1</a:t>
            </a:r>
          </a:p>
        </p:txBody>
      </p:sp>
      <p:sp>
        <p:nvSpPr>
          <p:cNvPr id="9" name="source_left_body_2">
            <a:extLst xmlns:a="http://schemas.openxmlformats.org/drawingml/2006/main">
              <a:ext uri="{FF2B5EF4-FFF2-40B4-BE49-F238E27FC236}">
                <a16:creationId xmlns:a16="http://schemas.microsoft.com/office/drawing/2014/main" id="{36EDC26E-73C1-4C99-ADCB-2B54E93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Generative AI risk profile, measurement actions, incident learning, and risk context.</a:t>
            </a:r>
          </a:p>
        </p:txBody>
      </p:sp>
      <p:sp>
        <p:nvSpPr>
          <p:cNvPr id="10" name="source_left_rule_2">
            <a:extLst xmlns:a="http://schemas.openxmlformats.org/drawingml/2006/main">
              <a:ext uri="{FF2B5EF4-FFF2-40B4-BE49-F238E27FC236}">
                <a16:creationId xmlns:a16="http://schemas.microsoft.com/office/drawing/2014/main" id="{2BC539A0-0D13-49F3-A357-D5AF4D9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source_left_title_3">
            <a:extLst xmlns:a="http://schemas.openxmlformats.org/drawingml/2006/main">
              <a:ext uri="{FF2B5EF4-FFF2-40B4-BE49-F238E27FC236}">
                <a16:creationId xmlns:a16="http://schemas.microsoft.com/office/drawing/2014/main" id="{304A55E7-52BC-47F7-9840-4EA26EC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Federal Reserve SR 26-2</a:t>
            </a:r>
          </a:p>
        </p:txBody>
      </p:sp>
      <p:sp>
        <p:nvSpPr>
          <p:cNvPr id="12" name="source_left_body_3">
            <a:extLst xmlns:a="http://schemas.openxmlformats.org/drawingml/2006/main">
              <a:ext uri="{FF2B5EF4-FFF2-40B4-BE49-F238E27FC236}">
                <a16:creationId xmlns:a16="http://schemas.microsoft.com/office/drawing/2014/main" id="{E9C352E7-F955-4836-8FDC-4344D582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Validation, independent challenge, monitoring, and outcomes analysis. GenAI is outside direct scope.</a:t>
            </a:r>
          </a:p>
        </p:txBody>
      </p:sp>
      <p:sp>
        <p:nvSpPr>
          <p:cNvPr id="13" name="source_left_rule_3">
            <a:extLst xmlns:a="http://schemas.openxmlformats.org/drawingml/2006/main">
              <a:ext uri="{FF2B5EF4-FFF2-40B4-BE49-F238E27FC236}">
                <a16:creationId xmlns:a16="http://schemas.microsoft.com/office/drawing/2014/main" id="{44066DD1-0C23-4FBE-804C-D63AC2BF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ource_left_title_4">
            <a:extLst xmlns:a="http://schemas.openxmlformats.org/drawingml/2006/main">
              <a:ext uri="{FF2B5EF4-FFF2-40B4-BE49-F238E27FC236}">
                <a16:creationId xmlns:a16="http://schemas.microsoft.com/office/drawing/2014/main" id="{D6D2A521-202D-495E-915F-F0C048BB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OWASP LLM Top 10 2025</a:t>
            </a:r>
          </a:p>
        </p:txBody>
      </p:sp>
      <p:sp>
        <p:nvSpPr>
          <p:cNvPr id="15" name="source_left_body_4">
            <a:extLst xmlns:a="http://schemas.openxmlformats.org/drawingml/2006/main">
              <a:ext uri="{FF2B5EF4-FFF2-40B4-BE49-F238E27FC236}">
                <a16:creationId xmlns:a16="http://schemas.microsoft.com/office/drawing/2014/main" id="{7E21F6A3-3A14-4364-B3C6-C92CD472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Prompt injection, sensitive information disclosure, excessive agency, and retrieval risks.</a:t>
            </a:r>
          </a:p>
        </p:txBody>
      </p:sp>
      <p:sp>
        <p:nvSpPr>
          <p:cNvPr id="16" name="source_right_title_1">
            <a:extLst xmlns:a="http://schemas.openxmlformats.org/drawingml/2006/main">
              <a:ext uri="{FF2B5EF4-FFF2-40B4-BE49-F238E27FC236}">
                <a16:creationId xmlns:a16="http://schemas.microsoft.com/office/drawing/2014/main" id="{895C91A9-294F-47E4-ACBC-E3754D0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Bank of Thailand policy</a:t>
            </a:r>
          </a:p>
        </p:txBody>
      </p:sp>
      <p:sp>
        <p:nvSpPr>
          <p:cNvPr id="17" name="source_right_body_1">
            <a:extLst xmlns:a="http://schemas.openxmlformats.org/drawingml/2006/main">
              <a:ext uri="{FF2B5EF4-FFF2-40B4-BE49-F238E27FC236}">
                <a16:creationId xmlns:a16="http://schemas.microsoft.com/office/drawing/2014/main" id="{3697D565-9F7C-4EB2-AD8A-E01F761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Risk proportionality, governance, fair customer protection, IT risk, and resilience.</a:t>
            </a:r>
          </a:p>
        </p:txBody>
      </p:sp>
      <p:sp>
        <p:nvSpPr>
          <p:cNvPr id="18" name="source_right_rule_1">
            <a:extLst xmlns:a="http://schemas.openxmlformats.org/drawingml/2006/main">
              <a:ext uri="{FF2B5EF4-FFF2-40B4-BE49-F238E27FC236}">
                <a16:creationId xmlns:a16="http://schemas.microsoft.com/office/drawing/2014/main" id="{854E2C43-85DF-4D78-A62B-620AAE34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source_right_title_2">
            <a:extLst xmlns:a="http://schemas.openxmlformats.org/drawingml/2006/main">
              <a:ext uri="{FF2B5EF4-FFF2-40B4-BE49-F238E27FC236}">
                <a16:creationId xmlns:a16="http://schemas.microsoft.com/office/drawing/2014/main" id="{D2B3B9E1-09F8-4E22-80BF-5CDD4A5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BOT draft AI risk guide</a:t>
            </a:r>
          </a:p>
        </p:txBody>
      </p:sp>
      <p:sp>
        <p:nvSpPr>
          <p:cNvPr id="20" name="source_right_body_2">
            <a:extLst xmlns:a="http://schemas.openxmlformats.org/drawingml/2006/main">
              <a:ext uri="{FF2B5EF4-FFF2-40B4-BE49-F238E27FC236}">
                <a16:creationId xmlns:a16="http://schemas.microsoft.com/office/drawing/2014/main" id="{E72747CE-8E65-481E-95DC-72AFEE5C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2025 consultation draft informs local framing and is not presented as a final rule.</a:t>
            </a:r>
          </a:p>
        </p:txBody>
      </p:sp>
      <p:sp>
        <p:nvSpPr>
          <p:cNvPr id="21" name="source_right_rule_2">
            <a:extLst xmlns:a="http://schemas.openxmlformats.org/drawingml/2006/main">
              <a:ext uri="{FF2B5EF4-FFF2-40B4-BE49-F238E27FC236}">
                <a16:creationId xmlns:a16="http://schemas.microsoft.com/office/drawing/2014/main" id="{5DD52D22-A67F-4156-951D-4EF4F9E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source_right_title_3">
            <a:extLst xmlns:a="http://schemas.openxmlformats.org/drawingml/2006/main">
              <a:ext uri="{FF2B5EF4-FFF2-40B4-BE49-F238E27FC236}">
                <a16:creationId xmlns:a16="http://schemas.microsoft.com/office/drawing/2014/main" id="{73A5C5C1-DF59-4864-AC7D-7C1C2C3A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BOT market conduct</a:t>
            </a:r>
          </a:p>
        </p:txBody>
      </p:sp>
      <p:sp>
        <p:nvSpPr>
          <p:cNvPr id="23" name="source_right_body_3">
            <a:extLst xmlns:a="http://schemas.openxmlformats.org/drawingml/2006/main">
              <a:ext uri="{FF2B5EF4-FFF2-40B4-BE49-F238E27FC236}">
                <a16:creationId xmlns:a16="http://schemas.microsoft.com/office/drawing/2014/main" id="{34035E1A-050B-420A-A715-CE112EFE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Fair treatment, clear disclosure, complaint handling, and customer protection.</a:t>
            </a:r>
          </a:p>
        </p:txBody>
      </p:sp>
      <p:sp>
        <p:nvSpPr>
          <p:cNvPr id="24" name="source_right_rule_3">
            <a:extLst xmlns:a="http://schemas.openxmlformats.org/drawingml/2006/main">
              <a:ext uri="{FF2B5EF4-FFF2-40B4-BE49-F238E27FC236}">
                <a16:creationId xmlns:a16="http://schemas.microsoft.com/office/drawing/2014/main" id="{245AAC42-134F-47EA-A400-062D7E3A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source_right_title_4">
            <a:extLst xmlns:a="http://schemas.openxmlformats.org/drawingml/2006/main">
              <a:ext uri="{FF2B5EF4-FFF2-40B4-BE49-F238E27FC236}">
                <a16:creationId xmlns:a16="http://schemas.microsoft.com/office/drawing/2014/main" id="{77818004-8BDB-4668-8B13-F4A99285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CFPB Circular 2022-03</a:t>
            </a:r>
          </a:p>
        </p:txBody>
      </p:sp>
      <p:sp>
        <p:nvSpPr>
          <p:cNvPr id="26" name="source_right_body_4">
            <a:extLst xmlns:a="http://schemas.openxmlformats.org/drawingml/2006/main">
              <a:ext uri="{FF2B5EF4-FFF2-40B4-BE49-F238E27FC236}">
                <a16:creationId xmlns:a16="http://schemas.microsoft.com/office/drawing/2014/main" id="{35C3AF6F-1A40-4AC9-A305-3180AF32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Specific-reason expectations for applicable U.S. credit adverse-action communications.</a:t>
            </a:r>
          </a:p>
        </p:txBody>
      </p:sp>
      <p:sp>
        <p:nvSpPr>
          <p:cNvPr id="27" name="source_scope">
            <a:extLst xmlns:a="http://schemas.openxmlformats.org/drawingml/2006/main">
              <a:ext uri="{FF2B5EF4-FFF2-40B4-BE49-F238E27FC236}">
                <a16:creationId xmlns:a16="http://schemas.microsoft.com/office/drawing/2014/main" id="{D02F2614-2FB4-446B-A9C5-06CCCE0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8" name="source_scope_text">
            <a:extLst xmlns:a="http://schemas.openxmlformats.org/drawingml/2006/main">
              <a:ext uri="{FF2B5EF4-FFF2-40B4-BE49-F238E27FC236}">
                <a16:creationId xmlns:a16="http://schemas.microsoft.com/office/drawing/2014/main" id="{AFBDA70C-9B41-48A6-AEBE-730B0667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Scope note: complete jurisdiction-specific legal and regulatory mapping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9803003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EAC682E-3D72-44C7-B49F-264C18C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THE OPERATING 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0554D1-0852-4EA4-A17C-53BA5634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111111"/>
                </a:solidFill>
              </a:defRPr>
            </a:pPr>
            <a:r>
              <a:rPr sz="3450" b="0">
                <a:solidFill>
                  <a:srgbClr val="111111"/>
                </a:solidFill>
              </a:rPr>
              <a:t>Responsible AI is an operating discipline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8628CF1-D367-44DA-A8E1-290D7580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bank should be able to answer four questions at any time.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FFC9535-CC6A-47B5-80A1-32F411A9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05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5" name="close_statement">
            <a:extLst xmlns:a="http://schemas.openxmlformats.org/drawingml/2006/main">
              <a:ext uri="{FF2B5EF4-FFF2-40B4-BE49-F238E27FC236}">
                <a16:creationId xmlns:a16="http://schemas.microsoft.com/office/drawing/2014/main" id="{BC44A8DF-0D61-4624-B698-392B8BC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</a:defRPr>
            </a:pPr>
            <a:r>
              <a:rPr sz="3150" b="0">
                <a:solidFill>
                  <a:srgbClr val="111111"/>
                </a:solidFill>
              </a:rPr>
              <a:t>Evidence must remain connected to ownership, customer outcomes, and the ability to stop or recover.</a:t>
            </a:r>
          </a:p>
        </p:txBody>
      </p:sp>
      <p:sp>
        <p:nvSpPr>
          <p:cNvPr id="6" name="close_accent">
            <a:extLst xmlns:a="http://schemas.openxmlformats.org/drawingml/2006/main">
              <a:ext uri="{FF2B5EF4-FFF2-40B4-BE49-F238E27FC236}">
                <a16:creationId xmlns:a16="http://schemas.microsoft.com/office/drawing/2014/main" id="{F898FDCB-36CD-48F1-9B37-9443DA7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close_q_1">
            <a:extLst xmlns:a="http://schemas.openxmlformats.org/drawingml/2006/main">
              <a:ext uri="{FF2B5EF4-FFF2-40B4-BE49-F238E27FC236}">
                <a16:creationId xmlns:a16="http://schemas.microsoft.com/office/drawing/2014/main" id="{6EDF61D6-3E77-4AE6-A334-6B09104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can it do?</a:t>
            </a:r>
          </a:p>
        </p:txBody>
      </p:sp>
      <p:sp>
        <p:nvSpPr>
          <p:cNvPr id="8" name="close_a_1">
            <a:extLst xmlns:a="http://schemas.openxmlformats.org/drawingml/2006/main">
              <a:ext uri="{FF2B5EF4-FFF2-40B4-BE49-F238E27FC236}">
                <a16:creationId xmlns:a16="http://schemas.microsoft.com/office/drawing/2014/main" id="{75262A16-F401-4301-BF26-291B368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716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Scope, risk tier, permissions, and prohibited outcomes</a:t>
            </a:r>
          </a:p>
        </p:txBody>
      </p:sp>
      <p:sp>
        <p:nvSpPr>
          <p:cNvPr id="9" name="close_rule_1">
            <a:extLst xmlns:a="http://schemas.openxmlformats.org/drawingml/2006/main">
              <a:ext uri="{FF2B5EF4-FFF2-40B4-BE49-F238E27FC236}">
                <a16:creationId xmlns:a16="http://schemas.microsoft.com/office/drawing/2014/main" id="{E03997E3-A0DF-428D-8DA9-26196DEF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close_q_2">
            <a:extLst xmlns:a="http://schemas.openxmlformats.org/drawingml/2006/main">
              <a:ext uri="{FF2B5EF4-FFF2-40B4-BE49-F238E27FC236}">
                <a16:creationId xmlns:a16="http://schemas.microsoft.com/office/drawing/2014/main" id="{3803BB31-2EB3-42FC-9DD0-586EACF1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How do we know it works?</a:t>
            </a:r>
          </a:p>
        </p:txBody>
      </p:sp>
      <p:sp>
        <p:nvSpPr>
          <p:cNvPr id="11" name="close_a_2">
            <a:extLst xmlns:a="http://schemas.openxmlformats.org/drawingml/2006/main">
              <a:ext uri="{FF2B5EF4-FFF2-40B4-BE49-F238E27FC236}">
                <a16:creationId xmlns:a16="http://schemas.microsoft.com/office/drawing/2014/main" id="{9DC34387-B042-48DB-8EDF-22D0B61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Test evidence, cohorts, severity, and independent challenge</a:t>
            </a:r>
          </a:p>
        </p:txBody>
      </p:sp>
      <p:sp>
        <p:nvSpPr>
          <p:cNvPr id="12" name="close_rule_2">
            <a:extLst xmlns:a="http://schemas.openxmlformats.org/drawingml/2006/main">
              <a:ext uri="{FF2B5EF4-FFF2-40B4-BE49-F238E27FC236}">
                <a16:creationId xmlns:a16="http://schemas.microsoft.com/office/drawing/2014/main" id="{72C7957E-47D1-4899-B15D-FB3F158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33775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close_q_3">
            <a:extLst xmlns:a="http://schemas.openxmlformats.org/drawingml/2006/main">
              <a:ext uri="{FF2B5EF4-FFF2-40B4-BE49-F238E27FC236}">
                <a16:creationId xmlns:a16="http://schemas.microsoft.com/office/drawing/2014/main" id="{119CFB37-8BF0-46A7-8E85-8334F58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What happens when it fails?</a:t>
            </a:r>
          </a:p>
        </p:txBody>
      </p:sp>
      <p:sp>
        <p:nvSpPr>
          <p:cNvPr id="14" name="close_a_3">
            <a:extLst xmlns:a="http://schemas.openxmlformats.org/drawingml/2006/main">
              <a:ext uri="{FF2B5EF4-FFF2-40B4-BE49-F238E27FC236}">
                <a16:creationId xmlns:a16="http://schemas.microsoft.com/office/drawing/2014/main" id="{30D85F53-B024-4056-BF70-27251D55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Fallback, containment, recovery, complaint, and regression test</a:t>
            </a:r>
          </a:p>
        </p:txBody>
      </p:sp>
      <p:sp>
        <p:nvSpPr>
          <p:cNvPr id="15" name="close_rule_3">
            <a:extLst xmlns:a="http://schemas.openxmlformats.org/drawingml/2006/main">
              <a:ext uri="{FF2B5EF4-FFF2-40B4-BE49-F238E27FC236}">
                <a16:creationId xmlns:a16="http://schemas.microsoft.com/office/drawing/2014/main" id="{D484F4E3-F9BE-41AC-B783-1D9AB32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05325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close_q_4">
            <a:extLst xmlns:a="http://schemas.openxmlformats.org/drawingml/2006/main">
              <a:ext uri="{FF2B5EF4-FFF2-40B4-BE49-F238E27FC236}">
                <a16:creationId xmlns:a16="http://schemas.microsoft.com/office/drawing/2014/main" id="{854B4DC6-CA86-461B-B1BD-B7C4F2DA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Who can stop or change it?</a:t>
            </a:r>
          </a:p>
        </p:txBody>
      </p:sp>
      <p:sp>
        <p:nvSpPr>
          <p:cNvPr id="17" name="close_a_4">
            <a:extLst xmlns:a="http://schemas.openxmlformats.org/drawingml/2006/main">
              <a:ext uri="{FF2B5EF4-FFF2-40B4-BE49-F238E27FC236}">
                <a16:creationId xmlns:a16="http://schemas.microsoft.com/office/drawing/2014/main" id="{C81CBAAE-7A3F-42CA-A8EE-70102993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Named owner, control functions, approval record, and kill switch</a:t>
            </a:r>
          </a:p>
        </p:txBody>
      </p:sp>
      <p:sp>
        <p:nvSpPr>
          <p:cNvPr id="18" name="close_banner">
            <a:extLst xmlns:a="http://schemas.openxmlformats.org/drawingml/2006/main">
              <a:ext uri="{FF2B5EF4-FFF2-40B4-BE49-F238E27FC236}">
                <a16:creationId xmlns:a16="http://schemas.microsoft.com/office/drawing/2014/main" id="{2A1A0EDE-E6BE-499B-ABFB-7012E372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close_banner_text">
            <a:extLst xmlns:a="http://schemas.openxmlformats.org/drawingml/2006/main">
              <a:ext uri="{FF2B5EF4-FFF2-40B4-BE49-F238E27FC236}">
                <a16:creationId xmlns:a16="http://schemas.microsoft.com/office/drawing/2014/main" id="{3E07F7EE-B2F1-42E2-AF65-D9BE953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674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Approve deployment only when evidence, ownership, and monitoring agree.</a:t>
            </a:r>
          </a:p>
        </p:txBody>
      </p:sp>
    </p:spTree>
    <p:extLst>
      <p:ext uri="{BB962C8B-B14F-4D97-AF65-F5344CB8AC3E}">
        <p14:creationId xmlns:p14="http://schemas.microsoft.com/office/powerpoint/2010/main" val="246268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2026-07-10T07:28:47.2620000Z</dcterms:created>
  <dcterms:modified xsi:type="dcterms:W3CDTF">2026-07-10T07:28:47.2630000Z</dcterms:modified>
</coreProperties>
</file>